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f3ba92ed44dc6" /><Relationship Type="http://schemas.openxmlformats.org/officeDocument/2006/relationships/extended-properties" Target="/docProps/app.xml" Id="Rfa4692be71df44ca" /><Relationship Type="http://schemas.openxmlformats.org/officeDocument/2006/relationships/officeDocument" Target="/ppt/presentation.xml" Id="R1c53956ae9cb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d4d4ab2f044a3"/>
  </p:sldMasterIdLst>
  <p:notesMasterIdLst>
    <p:notesMasterId xmlns:r="http://schemas.openxmlformats.org/officeDocument/2006/relationships" r:id="R493e53a5ece44c64"/>
  </p:notesMasterIdLst>
  <p:sldIdLst>
    <p:sldId xmlns:r="http://schemas.openxmlformats.org/officeDocument/2006/relationships" id="256" r:id="R0b30e73faf32411a"/>
    <p:sldId xmlns:r="http://schemas.openxmlformats.org/officeDocument/2006/relationships" id="257" r:id="R214e59c883c5491f"/>
    <p:sldId xmlns:r="http://schemas.openxmlformats.org/officeDocument/2006/relationships" id="258" r:id="R618e3f46f97b411c"/>
    <p:sldId xmlns:r="http://schemas.openxmlformats.org/officeDocument/2006/relationships" id="259" r:id="R64e320359bda4ac9"/>
    <p:sldId xmlns:r="http://schemas.openxmlformats.org/officeDocument/2006/relationships" id="260" r:id="R86ed36fad99240a9"/>
    <p:sldId xmlns:r="http://schemas.openxmlformats.org/officeDocument/2006/relationships" id="261" r:id="R90eab7fe648449d0"/>
    <p:sldId xmlns:r="http://schemas.openxmlformats.org/officeDocument/2006/relationships" id="262" r:id="Ra171e22f57c14864"/>
    <p:sldId xmlns:r="http://schemas.openxmlformats.org/officeDocument/2006/relationships" id="263" r:id="Ree04a0d27ab5468c"/>
    <p:sldId xmlns:r="http://schemas.openxmlformats.org/officeDocument/2006/relationships" id="264" r:id="R38079965fa4d461c"/>
    <p:sldId xmlns:r="http://schemas.openxmlformats.org/officeDocument/2006/relationships" id="265" r:id="Rd5919135ff0f4d85"/>
    <p:sldId xmlns:r="http://schemas.openxmlformats.org/officeDocument/2006/relationships" id="266" r:id="Rce607cfa1bbd4b77"/>
    <p:sldId xmlns:r="http://schemas.openxmlformats.org/officeDocument/2006/relationships" id="267" r:id="R8a596b2545f7404f"/>
    <p:sldId xmlns:r="http://schemas.openxmlformats.org/officeDocument/2006/relationships" id="268" r:id="Rd44f69530a6649f3"/>
    <p:sldId xmlns:r="http://schemas.openxmlformats.org/officeDocument/2006/relationships" id="269" r:id="R90527ad8cba541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de89711944472" /><Relationship Type="http://schemas.openxmlformats.org/officeDocument/2006/relationships/slideMaster" Target="/ppt/slideMasters/slideMaster1.xml" Id="Rb15d4d4ab2f044a3" /><Relationship Type="http://schemas.openxmlformats.org/officeDocument/2006/relationships/notesMaster" Target="/ppt/notesMasters/notesMaster1.xml" Id="R493e53a5ece44c64" /><Relationship Type="http://schemas.openxmlformats.org/officeDocument/2006/relationships/presProps" Target="/ppt/presProps.xml" Id="R36d24812bf5243d2" /><Relationship Type="http://schemas.openxmlformats.org/officeDocument/2006/relationships/tableStyles" Target="/ppt/tableStyles.xml" Id="R874ca1a3562644fd" /><Relationship Type="http://schemas.openxmlformats.org/officeDocument/2006/relationships/slide" Target="/ppt/slides/slide1.xml" Id="R0b30e73faf32411a" /><Relationship Type="http://schemas.openxmlformats.org/officeDocument/2006/relationships/slide" Target="/ppt/slides/slide2.xml" Id="R214e59c883c5491f" /><Relationship Type="http://schemas.openxmlformats.org/officeDocument/2006/relationships/slide" Target="/ppt/slides/slide3.xml" Id="R618e3f46f97b411c" /><Relationship Type="http://schemas.openxmlformats.org/officeDocument/2006/relationships/slide" Target="/ppt/slides/slide4.xml" Id="R64e320359bda4ac9" /><Relationship Type="http://schemas.openxmlformats.org/officeDocument/2006/relationships/slide" Target="/ppt/slides/slide5.xml" Id="R86ed36fad99240a9" /><Relationship Type="http://schemas.openxmlformats.org/officeDocument/2006/relationships/slide" Target="/ppt/slides/slide6.xml" Id="R90eab7fe648449d0" /><Relationship Type="http://schemas.openxmlformats.org/officeDocument/2006/relationships/slide" Target="/ppt/slides/slide7.xml" Id="Ra171e22f57c14864" /><Relationship Type="http://schemas.openxmlformats.org/officeDocument/2006/relationships/slide" Target="/ppt/slides/slide8.xml" Id="Ree04a0d27ab5468c" /><Relationship Type="http://schemas.openxmlformats.org/officeDocument/2006/relationships/slide" Target="/ppt/slides/slide9.xml" Id="R38079965fa4d461c" /><Relationship Type="http://schemas.openxmlformats.org/officeDocument/2006/relationships/slide" Target="/ppt/slides/slide10.xml" Id="Rd5919135ff0f4d85" /><Relationship Type="http://schemas.openxmlformats.org/officeDocument/2006/relationships/slide" Target="/ppt/slides/slide11.xml" Id="Rce607cfa1bbd4b77" /><Relationship Type="http://schemas.openxmlformats.org/officeDocument/2006/relationships/slide" Target="/ppt/slides/slide12.xml" Id="R8a596b2545f7404f" /><Relationship Type="http://schemas.openxmlformats.org/officeDocument/2006/relationships/slide" Target="/ppt/slides/slide13.xml" Id="Rd44f69530a6649f3" /><Relationship Type="http://schemas.openxmlformats.org/officeDocument/2006/relationships/slide" Target="/ppt/slides/slide14.xml" Id="R90527ad8cba541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38fe03a8447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91520f31e476a" /><Relationship Type="http://schemas.openxmlformats.org/officeDocument/2006/relationships/notesMaster" Target="/ppt/notesMasters/notesMaster1.xml" Id="Rc85ac7fb716742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5cff8a35b441b0" /><Relationship Type="http://schemas.openxmlformats.org/officeDocument/2006/relationships/notesMaster" Target="/ppt/notesMasters/notesMaster1.xml" Id="R9f6e8de5b539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f035a1345f4e86" /><Relationship Type="http://schemas.openxmlformats.org/officeDocument/2006/relationships/notesMaster" Target="/ppt/notesMasters/notesMaster1.xml" Id="R784b89f52d144f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3c09474df422c" /><Relationship Type="http://schemas.openxmlformats.org/officeDocument/2006/relationships/notesMaster" Target="/ppt/notesMasters/notesMaster1.xml" Id="R6728df23d36146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3c82e9a8084549" /><Relationship Type="http://schemas.openxmlformats.org/officeDocument/2006/relationships/notesMaster" Target="/ppt/notesMasters/notesMaster1.xml" Id="R357fc3610d0e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8a789622f4cac" /><Relationship Type="http://schemas.openxmlformats.org/officeDocument/2006/relationships/notesMaster" Target="/ppt/notesMasters/notesMaster1.xml" Id="R1ead711f1f9046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fdf16309549e4" /><Relationship Type="http://schemas.openxmlformats.org/officeDocument/2006/relationships/notesMaster" Target="/ppt/notesMasters/notesMaster1.xml" Id="Rdbff0fdd3678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a95e738c994df0" /><Relationship Type="http://schemas.openxmlformats.org/officeDocument/2006/relationships/notesMaster" Target="/ppt/notesMasters/notesMaster1.xml" Id="R98db2d20ba9c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c8ff50dec7469b" /><Relationship Type="http://schemas.openxmlformats.org/officeDocument/2006/relationships/notesMaster" Target="/ppt/notesMasters/notesMaster1.xml" Id="R713492d458ca4c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78de1bfd894da5" /><Relationship Type="http://schemas.openxmlformats.org/officeDocument/2006/relationships/notesMaster" Target="/ppt/notesMasters/notesMaster1.xml" Id="R55bb63f9b3e441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1dc7c37d3a4cd0" /><Relationship Type="http://schemas.openxmlformats.org/officeDocument/2006/relationships/notesMaster" Target="/ppt/notesMasters/notesMaster1.xml" Id="Re633db182a914c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b74ff799974854" /><Relationship Type="http://schemas.openxmlformats.org/officeDocument/2006/relationships/notesMaster" Target="/ppt/notesMasters/notesMaster1.xml" Id="R4a9b0060f6cf4a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3e26bdef534095" /><Relationship Type="http://schemas.openxmlformats.org/officeDocument/2006/relationships/notesMaster" Target="/ppt/notesMasters/notesMaster1.xml" Id="R493f3731598c44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cd4394d1cb4918" /><Relationship Type="http://schemas.openxmlformats.org/officeDocument/2006/relationships/notesMaster" Target="/ppt/notesMasters/notesMaster1.xml" Id="R952501f5efad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a1daea7ad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33c1f542b84d8f" /><Relationship Type="http://schemas.openxmlformats.org/officeDocument/2006/relationships/slideLayout" Target="/ppt/slideLayouts/slideLayout1.xml" Id="R9159eee0682f41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59eee0682f41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46863bfab4411" /><Relationship Type="http://schemas.openxmlformats.org/officeDocument/2006/relationships/notesSlide" Target="/ppt/notesSlides/notesSlide1.xml" Id="Ra05fbc3523ce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d8c28aaf4455c" /><Relationship Type="http://schemas.openxmlformats.org/officeDocument/2006/relationships/notesSlide" Target="/ppt/notesSlides/notesSlide2.xml" Id="R81d7291648664b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b4a1e3118444b" /><Relationship Type="http://schemas.openxmlformats.org/officeDocument/2006/relationships/notesSlide" Target="/ppt/notesSlides/notesSlide3.xml" Id="Rcdd27ef43381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db56aa58a443c" /><Relationship Type="http://schemas.openxmlformats.org/officeDocument/2006/relationships/notesSlide" Target="/ppt/notesSlides/notesSlide4.xml" Id="Rf28a3e54c46b45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d83e62fd64e9a" /><Relationship Type="http://schemas.openxmlformats.org/officeDocument/2006/relationships/notesSlide" Target="/ppt/notesSlides/notesSlide5.xml" Id="R16262b54b2d7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98e2bb0f8444b" /><Relationship Type="http://schemas.openxmlformats.org/officeDocument/2006/relationships/notesSlide" Target="/ppt/notesSlides/notesSlide6.xml" Id="R3d33cd381125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7a48b89b048a5" /><Relationship Type="http://schemas.openxmlformats.org/officeDocument/2006/relationships/notesSlide" Target="/ppt/notesSlides/notesSlide7.xml" Id="R7f51d89c47624f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de3cd8db24aea" /><Relationship Type="http://schemas.openxmlformats.org/officeDocument/2006/relationships/notesSlide" Target="/ppt/notesSlides/notesSlide8.xml" Id="Ra3828717f841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72494c11486b" /><Relationship Type="http://schemas.openxmlformats.org/officeDocument/2006/relationships/notesSlide" Target="/ppt/notesSlides/notesSlide9.xml" Id="Re7aec8be171b40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8e4e59b514728" /><Relationship Type="http://schemas.openxmlformats.org/officeDocument/2006/relationships/notesSlide" Target="/ppt/notesSlides/notesSlide10.xml" Id="R56b59e1845454e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8bf8f223744c6" /><Relationship Type="http://schemas.openxmlformats.org/officeDocument/2006/relationships/notesSlide" Target="/ppt/notesSlides/notesSlide11.xml" Id="R38a776c987ce4f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defbfbda44ea0" /><Relationship Type="http://schemas.openxmlformats.org/officeDocument/2006/relationships/notesSlide" Target="/ppt/notesSlides/notesSlide12.xml" Id="R36f78854135049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aa406f6ee4c7c" /><Relationship Type="http://schemas.openxmlformats.org/officeDocument/2006/relationships/notesSlide" Target="/ppt/notesSlides/notesSlide13.xml" Id="R1ca916521d3b4c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81949f3984702" /><Relationship Type="http://schemas.openxmlformats.org/officeDocument/2006/relationships/notesSlide" Target="/ppt/notesSlides/notesSlide14.xml" Id="Re27a93256770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left">
            <a:extLst xmlns:a="http://schemas.openxmlformats.org/drawingml/2006/main">
              <a:ext uri="{FF2B5EF4-FFF2-40B4-BE49-F238E27FC236}">
                <a16:creationId xmlns:a16="http://schemas.microsoft.com/office/drawing/2014/main" id="{FE43D7EC-49A2-48CB-BE42-A26277CD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cover-band">
            <a:extLst xmlns:a="http://schemas.openxmlformats.org/drawingml/2006/main">
              <a:ext uri="{FF2B5EF4-FFF2-40B4-BE49-F238E27FC236}">
                <a16:creationId xmlns:a16="http://schemas.microsoft.com/office/drawing/2014/main" id="{D5DDCD1D-B504-4630-8547-32CD735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25"/>
          </a:solidFill>
          <a:ln xmlns:a="http://schemas.openxmlformats.org/drawingml/2006/main" w="0">
            <a:solidFill>
              <a:srgbClr val="172225"/>
            </a:solidFill>
            <a:prstDash val="solid"/>
          </a:ln>
        </p:spPr>
      </p:sp>
      <p:sp>
        <p:nvSpPr>
          <p:cNvPr id="3" name="cover-small-rule">
            <a:extLst xmlns:a="http://schemas.openxmlformats.org/drawingml/2006/main">
              <a:ext uri="{FF2B5EF4-FFF2-40B4-BE49-F238E27FC236}">
                <a16:creationId xmlns:a16="http://schemas.microsoft.com/office/drawing/2014/main" id="{7F6CC3C5-1D6D-411E-88FB-D918280C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0079640-8F89-4DB7-8F8D-9B7A81E8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F2EE"/>
                </a:solidFill>
                <a:latin typeface="PingFang SC"/>
                <a:ea typeface="PingFang SC"/>
                <a:cs typeface="PingFang SC"/>
              </a:defRPr>
            </a:pPr>
            <a:r>
              <a:t>EMBEDDED STORAGE ENGINE</a:t>
            </a:r>
          </a:p>
        </p:txBody>
      </p:sp>
      <p:sp>
        <p:nvSpPr>
          <p:cNvPr id="5" name="cover-lumo">
            <a:extLst xmlns:a="http://schemas.openxmlformats.org/drawingml/2006/main">
              <a:ext uri="{FF2B5EF4-FFF2-40B4-BE49-F238E27FC236}">
                <a16:creationId xmlns:a16="http://schemas.microsoft.com/office/drawing/2014/main" id="{2D2E7A9E-67A5-4C42-B8DC-921A0C3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90487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LumoDB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D2FA60E-3533-4883-A648-94A07EC8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7334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面向不可变对象的
嵌入式点查存储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C87274C-CE93-4169-802B-9622523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EFEF"/>
                </a:solidFill>
                <a:latin typeface="PingFang SC"/>
                <a:ea typeface="PingFang SC"/>
                <a:cs typeface="PingFang SC"/>
              </a:defRPr>
            </a:pPr>
            <a:r>
              <a:t>设计思路 · 存储原理 · 期望常数时间索引 · C++ 写入与读出</a:t>
            </a:r>
          </a:p>
        </p:txBody>
      </p:sp>
      <p:sp>
        <p:nvSpPr>
          <p:cNvPr id="8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390DF433-148F-42FF-AC00-F0EEB55F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817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CCD"/>
                </a:solidFill>
                <a:latin typeface="PingFang SC"/>
                <a:ea typeface="PingFang SC"/>
                <a:cs typeface="PingFang SC"/>
              </a:defRPr>
            </a:pPr>
            <a:r>
              <a:t>C++20 · append-only · mmap read-only</a:t>
            </a:r>
          </a:p>
        </p:txBody>
      </p:sp>
      <p:cxnSp>
        <p:nvCxnSpPr>
          <p:cNvPr id="35" name="cover-vertical"/>
          <p:cNvCxnSpPr/>
          <p:nvPr/>
        </p:nvCxnSpPr>
        <p:spPr>
          <a:xfrm xmlns:a="http://schemas.openxmlformats.org/drawingml/2006/main">
            <a:off x="6991350" y="1238250"/>
            <a:ext cx="9525" cy="3276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DEDB"/>
            </a:solidFill>
            <a:prstDash val="solid"/>
          </a:ln>
        </p:spPr>
      </p:cxnSp>
      <p:cxnSp>
        <p:nvCxnSpPr>
          <p:cNvPr id="36" name="cover-horizontal"/>
          <p:cNvCxnSpPr/>
          <p:nvPr/>
        </p:nvCxnSpPr>
        <p:spPr>
          <a:xfrm xmlns:a="http://schemas.openxmlformats.org/drawingml/2006/main">
            <a:off x="5753100" y="2647950"/>
            <a:ext cx="2971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DEDB"/>
            </a:solidFill>
            <a:prstDash val="solid"/>
          </a:ln>
        </p:spPr>
      </p:cxnSp>
      <p:cxnSp>
        <p:nvCxnSpPr>
          <p:cNvPr id="37" name="cover-horizontal2"/>
          <p:cNvCxnSpPr/>
          <p:nvPr/>
        </p:nvCxnSpPr>
        <p:spPr>
          <a:xfrm xmlns:a="http://schemas.openxmlformats.org/drawingml/2006/main">
            <a:off x="5753100" y="4171950"/>
            <a:ext cx="2971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DEDB"/>
            </a:solidFill>
            <a:prstDash val="solid"/>
          </a:ln>
        </p:spPr>
      </p:cxnSp>
      <p:sp>
        <p:nvSpPr>
          <p:cNvPr id="12" name="cover-dot1">
            <a:extLst xmlns:a="http://schemas.openxmlformats.org/drawingml/2006/main">
              <a:ext uri="{FF2B5EF4-FFF2-40B4-BE49-F238E27FC236}">
                <a16:creationId xmlns:a16="http://schemas.microsoft.com/office/drawing/2014/main" id="{DAC72618-BEA4-405E-B8DD-48D1EF9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13" name="cover-dot2">
            <a:extLst xmlns:a="http://schemas.openxmlformats.org/drawingml/2006/main">
              <a:ext uri="{FF2B5EF4-FFF2-40B4-BE49-F238E27FC236}">
                <a16:creationId xmlns:a16="http://schemas.microsoft.com/office/drawing/2014/main" id="{4C0FF879-9E3E-44E5-9013-7EAD2EF3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F"/>
          </a:solidFill>
          <a:ln xmlns:a="http://schemas.openxmlformats.org/drawingml/2006/main" w="0">
            <a:solidFill>
              <a:srgbClr val="2D6EAF"/>
            </a:solidFill>
            <a:prstDash val="solid"/>
          </a:ln>
        </p:spPr>
      </p:sp>
      <p:sp>
        <p:nvSpPr>
          <p:cNvPr id="14" name="cover-dot3">
            <a:extLst xmlns:a="http://schemas.openxmlformats.org/drawingml/2006/main">
              <a:ext uri="{FF2B5EF4-FFF2-40B4-BE49-F238E27FC236}">
                <a16:creationId xmlns:a16="http://schemas.microsoft.com/office/drawing/2014/main" id="{5E84B093-F64E-418B-991A-3AD3B6F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55"/>
          </a:solidFill>
          <a:ln xmlns:a="http://schemas.openxmlformats.org/drawingml/2006/main" w="0">
            <a:solidFill>
              <a:srgbClr val="2C7A55"/>
            </a:solidFill>
            <a:prstDash val="solid"/>
          </a:ln>
        </p:spPr>
      </p:sp>
      <p:sp>
        <p:nvSpPr>
          <p:cNvPr id="15" name="cover-dot4">
            <a:extLst xmlns:a="http://schemas.openxmlformats.org/drawingml/2006/main">
              <a:ext uri="{FF2B5EF4-FFF2-40B4-BE49-F238E27FC236}">
                <a16:creationId xmlns:a16="http://schemas.microsoft.com/office/drawing/2014/main" id="{C65B51FC-BFEF-406A-8DA5-257D87D6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16" name="cover-object">
            <a:extLst xmlns:a="http://schemas.openxmlformats.org/drawingml/2006/main">
              <a:ext uri="{FF2B5EF4-FFF2-40B4-BE49-F238E27FC236}">
                <a16:creationId xmlns:a16="http://schemas.microsoft.com/office/drawing/2014/main" id="{B00E1DB0-B49B-4DCB-809F-A1990F98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17" name="cover-object-label">
            <a:extLst xmlns:a="http://schemas.openxmlformats.org/drawingml/2006/main">
              <a:ext uri="{FF2B5EF4-FFF2-40B4-BE49-F238E27FC236}">
                <a16:creationId xmlns:a16="http://schemas.microsoft.com/office/drawing/2014/main" id="{A2074C9C-9953-4760-8E10-373B6CE7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1562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Column + Key</a:t>
            </a:r>
          </a:p>
        </p:txBody>
      </p:sp>
      <p:sp>
        <p:nvSpPr>
          <p:cNvPr id="18" name="cover-index">
            <a:extLst xmlns:a="http://schemas.openxmlformats.org/drawingml/2006/main">
              <a:ext uri="{FF2B5EF4-FFF2-40B4-BE49-F238E27FC236}">
                <a16:creationId xmlns:a16="http://schemas.microsoft.com/office/drawing/2014/main" id="{63E5EA8B-C0B2-4670-8824-906CF401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3355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9" name="cover-index-label">
            <a:extLst xmlns:a="http://schemas.openxmlformats.org/drawingml/2006/main">
              <a:ext uri="{FF2B5EF4-FFF2-40B4-BE49-F238E27FC236}">
                <a16:creationId xmlns:a16="http://schemas.microsoft.com/office/drawing/2014/main" id="{639932AE-67CC-4DEE-82B9-3A0537A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mmap index</a:t>
            </a:r>
          </a:p>
        </p:txBody>
      </p:sp>
      <p:sp>
        <p:nvSpPr>
          <p:cNvPr id="20" name="cover-row">
            <a:extLst xmlns:a="http://schemas.openxmlformats.org/drawingml/2006/main">
              <a:ext uri="{FF2B5EF4-FFF2-40B4-BE49-F238E27FC236}">
                <a16:creationId xmlns:a16="http://schemas.microsoft.com/office/drawing/2014/main" id="{40EBEA79-74BA-4D0F-A9BC-421BC00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21" name="cover-row-label">
            <a:extLst xmlns:a="http://schemas.openxmlformats.org/drawingml/2006/main">
              <a:ext uri="{FF2B5EF4-FFF2-40B4-BE49-F238E27FC236}">
                <a16:creationId xmlns:a16="http://schemas.microsoft.com/office/drawing/2014/main" id="{E3C83ED8-E703-4D4A-8594-AFFB0331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Row block</a:t>
            </a:r>
          </a:p>
        </p:txBody>
      </p:sp>
      <p:sp>
        <p:nvSpPr>
          <p:cNvPr id="22" name="cover-value">
            <a:extLst xmlns:a="http://schemas.openxmlformats.org/drawingml/2006/main">
              <a:ext uri="{FF2B5EF4-FFF2-40B4-BE49-F238E27FC236}">
                <a16:creationId xmlns:a16="http://schemas.microsoft.com/office/drawing/2014/main" id="{23B05901-48CA-40D8-B1E4-E852C4C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23" name="cover-value-label">
            <a:extLst xmlns:a="http://schemas.openxmlformats.org/drawingml/2006/main">
              <a:ext uri="{FF2B5EF4-FFF2-40B4-BE49-F238E27FC236}">
                <a16:creationId xmlns:a16="http://schemas.microsoft.com/office/drawing/2014/main" id="{0A720072-9033-4E4D-97BF-1A6EB69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76625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7A55"/>
                </a:solidFill>
                <a:latin typeface="PingFang SC"/>
                <a:ea typeface="PingFang SC"/>
                <a:cs typeface="PingFang SC"/>
              </a:defRPr>
            </a:pPr>
            <a:r>
              <a:t>append values</a:t>
            </a:r>
          </a:p>
        </p:txBody>
      </p:sp>
      <p:cxnSp>
        <p:nvCxnSpPr>
          <p:cNvPr id="50" name="footer-rule-1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5" name="footer-name-1">
            <a:extLst xmlns:a="http://schemas.openxmlformats.org/drawingml/2006/main">
              <a:ext uri="{FF2B5EF4-FFF2-40B4-BE49-F238E27FC236}">
                <a16:creationId xmlns:a16="http://schemas.microsoft.com/office/drawing/2014/main" id="{5C50BF81-520C-40CE-B3B3-9F929AFC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6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881520F2-2823-468C-BBDC-90E1B36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3174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E98FE656-EA4C-4B20-957D-C46EE04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2F67DD7D-8F84-4819-9C1A-DEF1C4B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LumoDB 用明确边界换取直接写入与直接读回</a:t>
            </a:r>
          </a:p>
        </p:txBody>
      </p:sp>
      <p:sp>
        <p:nvSpPr>
          <p:cNvPr id="3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A9FFFABD-F4CA-48CE-8490-71C116E2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它不是通用数据库；目标是序列化对象的精确定位与完成写入后的稳定只读。</a:t>
            </a:r>
          </a:p>
        </p:txBody>
      </p:sp>
      <p:sp>
        <p:nvSpPr>
          <p:cNvPr id="4" name="goal-box">
            <a:extLst xmlns:a="http://schemas.openxmlformats.org/drawingml/2006/main">
              <a:ext uri="{FF2B5EF4-FFF2-40B4-BE49-F238E27FC236}">
                <a16:creationId xmlns:a16="http://schemas.microsoft.com/office/drawing/2014/main" id="{45798808-20DC-4A3B-A71D-193415B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5" name="goal-accent">
            <a:extLst xmlns:a="http://schemas.openxmlformats.org/drawingml/2006/main">
              <a:ext uri="{FF2B5EF4-FFF2-40B4-BE49-F238E27FC236}">
                <a16:creationId xmlns:a16="http://schemas.microsoft.com/office/drawing/2014/main" id="{A40E7C8C-DA5A-4BF8-AD8A-1511521F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6" name="goal-title">
            <a:extLst xmlns:a="http://schemas.openxmlformats.org/drawingml/2006/main">
              <a:ext uri="{FF2B5EF4-FFF2-40B4-BE49-F238E27FC236}">
                <a16:creationId xmlns:a16="http://schemas.microsoft.com/office/drawing/2014/main" id="{7F0CD58F-66F7-458E-9C62-A88C06EE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优化目标</a:t>
            </a:r>
          </a:p>
        </p:txBody>
      </p:sp>
      <p:sp>
        <p:nvSpPr>
          <p:cNvPr id="7" name="goal-body">
            <a:extLst xmlns:a="http://schemas.openxmlformats.org/drawingml/2006/main">
              <a:ext uri="{FF2B5EF4-FFF2-40B4-BE49-F238E27FC236}">
                <a16:creationId xmlns:a16="http://schemas.microsoft.com/office/drawing/2014/main" id="{93BBA00A-D66C-4342-8891-1BD074B9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857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• Column + Key / Column + RowId + Key 的精确点查
• value 只写一次或以完整 row 为单位写入
• Close 后以 mmap 只读方式打开</a:t>
            </a:r>
          </a:p>
        </p:txBody>
      </p:sp>
      <p:sp>
        <p:nvSpPr>
          <p:cNvPr id="8" name="exclude-box">
            <a:extLst xmlns:a="http://schemas.openxmlformats.org/drawingml/2006/main">
              <a:ext uri="{FF2B5EF4-FFF2-40B4-BE49-F238E27FC236}">
                <a16:creationId xmlns:a16="http://schemas.microsoft.com/office/drawing/2014/main" id="{DA70FD7E-004C-472A-BC8E-820F3A2A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9" name="exclude-accent">
            <a:extLst xmlns:a="http://schemas.openxmlformats.org/drawingml/2006/main">
              <a:ext uri="{FF2B5EF4-FFF2-40B4-BE49-F238E27FC236}">
                <a16:creationId xmlns:a16="http://schemas.microsoft.com/office/drawing/2014/main" id="{41B42897-278C-441B-A28D-D4DCE05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10" name="exclude-title">
            <a:extLst xmlns:a="http://schemas.openxmlformats.org/drawingml/2006/main">
              <a:ext uri="{FF2B5EF4-FFF2-40B4-BE49-F238E27FC236}">
                <a16:creationId xmlns:a16="http://schemas.microsoft.com/office/drawing/2014/main" id="{86E5B057-293F-415A-BFBC-5E539326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526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刻意不做</a:t>
            </a:r>
          </a:p>
        </p:txBody>
      </p:sp>
      <p:sp>
        <p:nvSpPr>
          <p:cNvPr id="11" name="exclude-body">
            <a:extLst xmlns:a="http://schemas.openxmlformats.org/drawingml/2006/main">
              <a:ext uri="{FF2B5EF4-FFF2-40B4-BE49-F238E27FC236}">
                <a16:creationId xmlns:a16="http://schemas.microsoft.com/office/drawing/2014/main" id="{2EE6A9E4-58FC-4663-8801-E7335719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57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• SQL、范围扫描、删除与压缩
• 事务与通用并发写入语义
• 通过遍历 row 来发现对象</a:t>
            </a:r>
          </a:p>
        </p:txBody>
      </p:sp>
      <p:sp>
        <p:nvSpPr>
          <p:cNvPr id="12" name="result-box">
            <a:extLst xmlns:a="http://schemas.openxmlformats.org/drawingml/2006/main">
              <a:ext uri="{FF2B5EF4-FFF2-40B4-BE49-F238E27FC236}">
                <a16:creationId xmlns:a16="http://schemas.microsoft.com/office/drawing/2014/main" id="{822ED76B-DDB3-4F5A-9161-CA9FE1C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3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11BEF870-0D1B-4577-B29F-0B56DEF8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AF"/>
          </a:solidFill>
          <a:ln xmlns:a="http://schemas.openxmlformats.org/drawingml/2006/main" w="0">
            <a:solidFill>
              <a:srgbClr val="2D6EAF"/>
            </a:solidFill>
            <a:prstDash val="solid"/>
          </a:ln>
        </p:spPr>
      </p:sp>
      <p:sp>
        <p:nvSpPr>
          <p:cNvPr id="14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B837A36D-4C8A-400D-BF08-9878D5A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得到的主路径</a:t>
            </a:r>
          </a:p>
        </p:txBody>
      </p:sp>
      <p:sp>
        <p:nvSpPr>
          <p:cNvPr id="15" name="result-body">
            <a:extLst xmlns:a="http://schemas.openxmlformats.org/drawingml/2006/main">
              <a:ext uri="{FF2B5EF4-FFF2-40B4-BE49-F238E27FC236}">
                <a16:creationId xmlns:a16="http://schemas.microsoft.com/office/drawing/2014/main" id="{4538B051-8D16-4963-B00A-E8D4156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5100"/>
            <a:ext cx="2857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• value 文件顺序 append
• mmap 的扁平开放寻址索引
• 指向 offset 的直接随机读取</a:t>
            </a:r>
          </a:p>
        </p:txBody>
      </p:sp>
      <p:cxnSp>
        <p:nvCxnSpPr>
          <p:cNvPr id="41" name="s2-flow"/>
          <p:cNvCxnSpPr/>
          <p:nvPr/>
        </p:nvCxnSpPr>
        <p:spPr>
          <a:xfrm xmlns:a="http://schemas.openxmlformats.org/drawingml/2006/main">
            <a:off x="1524000" y="5219700"/>
            <a:ext cx="904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DC"/>
            </a:solidFill>
            <a:prstDash val="solid"/>
          </a:ln>
        </p:spPr>
      </p:cxnSp>
      <p:sp>
        <p:nvSpPr>
          <p:cNvPr id="17" name="s2-dot1">
            <a:extLst xmlns:a="http://schemas.openxmlformats.org/drawingml/2006/main">
              <a:ext uri="{FF2B5EF4-FFF2-40B4-BE49-F238E27FC236}">
                <a16:creationId xmlns:a16="http://schemas.microsoft.com/office/drawing/2014/main" id="{BF8E5716-AE7A-4503-8B4E-81F3719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18" name="s2-dot2">
            <a:extLst xmlns:a="http://schemas.openxmlformats.org/drawingml/2006/main">
              <a:ext uri="{FF2B5EF4-FFF2-40B4-BE49-F238E27FC236}">
                <a16:creationId xmlns:a16="http://schemas.microsoft.com/office/drawing/2014/main" id="{D23C1B3B-2556-4304-BDD2-EC3A723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19" name="s2-dot3">
            <a:extLst xmlns:a="http://schemas.openxmlformats.org/drawingml/2006/main">
              <a:ext uri="{FF2B5EF4-FFF2-40B4-BE49-F238E27FC236}">
                <a16:creationId xmlns:a16="http://schemas.microsoft.com/office/drawing/2014/main" id="{46F3F7B9-AD32-4E1F-82D9-6D3E016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F"/>
          </a:solidFill>
          <a:ln xmlns:a="http://schemas.openxmlformats.org/drawingml/2006/main" w="0">
            <a:solidFill>
              <a:srgbClr val="2D6EAF"/>
            </a:solidFill>
            <a:prstDash val="solid"/>
          </a:ln>
        </p:spPr>
      </p:sp>
      <p:sp>
        <p:nvSpPr>
          <p:cNvPr id="20" name="s2-1">
            <a:extLst xmlns:a="http://schemas.openxmlformats.org/drawingml/2006/main">
              <a:ext uri="{FF2B5EF4-FFF2-40B4-BE49-F238E27FC236}">
                <a16:creationId xmlns:a16="http://schemas.microsoft.com/office/drawing/2014/main" id="{66B39BD7-8255-46DB-A458-6323C634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输入已知地址</a:t>
            </a:r>
          </a:p>
        </p:txBody>
      </p:sp>
      <p:sp>
        <p:nvSpPr>
          <p:cNvPr id="21" name="s2-2">
            <a:extLst xmlns:a="http://schemas.openxmlformats.org/drawingml/2006/main">
              <a:ext uri="{FF2B5EF4-FFF2-40B4-BE49-F238E27FC236}">
                <a16:creationId xmlns:a16="http://schemas.microsoft.com/office/drawing/2014/main" id="{20736729-1151-4502-8895-436401B6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顺序落盘 + 索引发布</a:t>
            </a:r>
          </a:p>
        </p:txBody>
      </p:sp>
      <p:sp>
        <p:nvSpPr>
          <p:cNvPr id="22" name="s2-3">
            <a:extLst xmlns:a="http://schemas.openxmlformats.org/drawingml/2006/main">
              <a:ext uri="{FF2B5EF4-FFF2-40B4-BE49-F238E27FC236}">
                <a16:creationId xmlns:a16="http://schemas.microsoft.com/office/drawing/2014/main" id="{33EF19B8-5F03-4B69-A3B0-43E57F5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054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点查回读</a:t>
            </a:r>
          </a:p>
        </p:txBody>
      </p:sp>
      <p:cxnSp>
        <p:nvCxnSpPr>
          <p:cNvPr id="48" name="footer-rule-2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4" name="footer-name-2">
            <a:extLst xmlns:a="http://schemas.openxmlformats.org/drawingml/2006/main">
              <a:ext uri="{FF2B5EF4-FFF2-40B4-BE49-F238E27FC236}">
                <a16:creationId xmlns:a16="http://schemas.microsoft.com/office/drawing/2014/main" id="{F4DC2B31-A8FC-465F-8466-B1AD83C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A889BBB7-BF57-42D1-B0F7-39B3A5EB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7149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412425E6-63C5-4EEB-91E9-35F0F73F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FEDCC056-D1F3-4834-A05F-48DCC31C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先选择地址模型，决定数据如何组织</a:t>
            </a:r>
          </a:p>
        </p:txBody>
      </p:sp>
      <p:sp>
        <p:nvSpPr>
          <p:cNvPr id="3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F264FC5C-EB99-4F31-89E7-1DE6D2B5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column 既可以是平铺对象集合，也可以是以 rowId 划分的对象 map。两种模型各有独立索引。</a:t>
            </a:r>
          </a:p>
        </p:txBody>
      </p:sp>
      <p:cxnSp>
        <p:nvCxnSpPr>
          <p:cNvPr id="33" name="s3-left-1"/>
          <p:cNvCxnSpPr/>
          <p:nvPr/>
        </p:nvCxnSpPr>
        <p:spPr>
          <a:xfrm xmlns:a="http://schemas.openxmlformats.org/drawingml/2006/main">
            <a:off x="2724150" y="287655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EAF"/>
            </a:solidFill>
            <a:prstDash val="solid"/>
          </a:ln>
        </p:spPr>
      </p:cxnSp>
      <p:cxnSp>
        <p:nvCxnSpPr>
          <p:cNvPr id="34" name="s3-left-2"/>
          <p:cNvCxnSpPr/>
          <p:nvPr/>
        </p:nvCxnSpPr>
        <p:spPr>
          <a:xfrm xmlns:a="http://schemas.openxmlformats.org/drawingml/2006/main">
            <a:off x="5943600" y="287655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EAF"/>
            </a:solidFill>
            <a:prstDash val="solid"/>
          </a:ln>
        </p:spPr>
      </p:cxnSp>
      <p:cxnSp>
        <p:nvCxnSpPr>
          <p:cNvPr id="35" name="s3-right-1"/>
          <p:cNvCxnSpPr/>
          <p:nvPr/>
        </p:nvCxnSpPr>
        <p:spPr>
          <a:xfrm xmlns:a="http://schemas.openxmlformats.org/drawingml/2006/main">
            <a:off x="2724150" y="512445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cxnSp>
        <p:nvCxnSpPr>
          <p:cNvPr id="36" name="s3-right-2"/>
          <p:cNvCxnSpPr/>
          <p:nvPr/>
        </p:nvCxnSpPr>
        <p:spPr>
          <a:xfrm xmlns:a="http://schemas.openxmlformats.org/drawingml/2006/main">
            <a:off x="5943600" y="512445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cxnSp>
        <p:nvCxnSpPr>
          <p:cNvPr id="37" name="s3-right-3"/>
          <p:cNvCxnSpPr/>
          <p:nvPr/>
        </p:nvCxnSpPr>
        <p:spPr>
          <a:xfrm xmlns:a="http://schemas.openxmlformats.org/drawingml/2006/main">
            <a:off x="9163050" y="512445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sp>
        <p:nvSpPr>
          <p:cNvPr id="9" name="s3-flat-caption">
            <a:extLst xmlns:a="http://schemas.openxmlformats.org/drawingml/2006/main">
              <a:ext uri="{FF2B5EF4-FFF2-40B4-BE49-F238E27FC236}">
                <a16:creationId xmlns:a16="http://schemas.microsoft.com/office/drawing/2014/main" id="{FE596C1A-9A7F-4A69-BD01-F2702D2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419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无 Row：独立对象</a:t>
            </a:r>
          </a:p>
        </p:txBody>
      </p:sp>
      <p:sp>
        <p:nvSpPr>
          <p:cNvPr id="10" name="s3-flat-a">
            <a:extLst xmlns:a="http://schemas.openxmlformats.org/drawingml/2006/main">
              <a:ext uri="{FF2B5EF4-FFF2-40B4-BE49-F238E27FC236}">
                <a16:creationId xmlns:a16="http://schemas.microsoft.com/office/drawing/2014/main" id="{CC6A0F87-072D-4A81-BA4E-423193FD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324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11" name="s3-flat-a-text">
            <a:extLst xmlns:a="http://schemas.openxmlformats.org/drawingml/2006/main">
              <a:ext uri="{FF2B5EF4-FFF2-40B4-BE49-F238E27FC236}">
                <a16:creationId xmlns:a16="http://schemas.microsoft.com/office/drawing/2014/main" id="{27E06AB1-8BC0-4D06-AF9B-A7831AC6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Column + Key</a:t>
            </a:r>
          </a:p>
        </p:txBody>
      </p:sp>
      <p:sp>
        <p:nvSpPr>
          <p:cNvPr id="12" name="s3-flat-b">
            <a:extLst xmlns:a="http://schemas.openxmlformats.org/drawingml/2006/main">
              <a:ext uri="{FF2B5EF4-FFF2-40B4-BE49-F238E27FC236}">
                <a16:creationId xmlns:a16="http://schemas.microsoft.com/office/drawing/2014/main" id="{3F94CA3D-BCBA-44BC-99CD-B22E1D9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226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3" name="s3-flat-b-text">
            <a:extLst xmlns:a="http://schemas.openxmlformats.org/drawingml/2006/main">
              <a:ext uri="{FF2B5EF4-FFF2-40B4-BE49-F238E27FC236}">
                <a16:creationId xmlns:a16="http://schemas.microsoft.com/office/drawing/2014/main" id="{CC085501-0068-4242-9D1A-2D159CF7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188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index.lumoi</a:t>
            </a:r>
          </a:p>
        </p:txBody>
      </p:sp>
      <p:sp>
        <p:nvSpPr>
          <p:cNvPr id="14" name="s3-flat-c">
            <a:extLst xmlns:a="http://schemas.openxmlformats.org/drawingml/2006/main">
              <a:ext uri="{FF2B5EF4-FFF2-40B4-BE49-F238E27FC236}">
                <a16:creationId xmlns:a16="http://schemas.microsoft.com/office/drawing/2014/main" id="{196FE975-C6EB-43E2-A5EB-2BCA90A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5" name="s3-flat-c-text">
            <a:extLst xmlns:a="http://schemas.openxmlformats.org/drawingml/2006/main">
              <a:ext uri="{FF2B5EF4-FFF2-40B4-BE49-F238E27FC236}">
                <a16:creationId xmlns:a16="http://schemas.microsoft.com/office/drawing/2014/main" id="{C150DA23-C5F1-4F1D-9660-0B14466D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268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values.lumov @ offset</a:t>
            </a:r>
          </a:p>
        </p:txBody>
      </p:sp>
      <p:sp>
        <p:nvSpPr>
          <p:cNvPr id="16" name="s3-flat-note">
            <a:extLst xmlns:a="http://schemas.openxmlformats.org/drawingml/2006/main">
              <a:ext uri="{FF2B5EF4-FFF2-40B4-BE49-F238E27FC236}">
                <a16:creationId xmlns:a16="http://schemas.microsoft.com/office/drawing/2014/main" id="{962A4659-8782-472E-9BDB-4CF0282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962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读：hash bucket -&gt; record offset -&gt; 校验 column/key -&gt; payload</a:t>
            </a:r>
          </a:p>
        </p:txBody>
      </p:sp>
      <p:sp>
        <p:nvSpPr>
          <p:cNvPr id="17" name="s3-row-caption">
            <a:extLst xmlns:a="http://schemas.openxmlformats.org/drawingml/2006/main">
              <a:ext uri="{FF2B5EF4-FFF2-40B4-BE49-F238E27FC236}">
                <a16:creationId xmlns:a16="http://schemas.microsoft.com/office/drawing/2014/main" id="{76802FCB-31AA-4557-92A2-425A4885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有 Row：row 内部仍按 key 索引</a:t>
            </a:r>
          </a:p>
        </p:txBody>
      </p:sp>
      <p:sp>
        <p:nvSpPr>
          <p:cNvPr id="18" name="s3-row-a">
            <a:extLst xmlns:a="http://schemas.openxmlformats.org/drawingml/2006/main">
              <a:ext uri="{FF2B5EF4-FFF2-40B4-BE49-F238E27FC236}">
                <a16:creationId xmlns:a16="http://schemas.microsoft.com/office/drawing/2014/main" id="{EC10EE66-7BB8-4023-82BD-62D8EF28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324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19" name="s3-row-a-text">
            <a:extLst xmlns:a="http://schemas.openxmlformats.org/drawingml/2006/main">
              <a:ext uri="{FF2B5EF4-FFF2-40B4-BE49-F238E27FC236}">
                <a16:creationId xmlns:a16="http://schemas.microsoft.com/office/drawing/2014/main" id="{120DA867-014E-459B-A245-37AE166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Column + RowId</a:t>
            </a:r>
          </a:p>
        </p:txBody>
      </p:sp>
      <p:sp>
        <p:nvSpPr>
          <p:cNvPr id="20" name="s3-row-b">
            <a:extLst xmlns:a="http://schemas.openxmlformats.org/drawingml/2006/main">
              <a:ext uri="{FF2B5EF4-FFF2-40B4-BE49-F238E27FC236}">
                <a16:creationId xmlns:a16="http://schemas.microsoft.com/office/drawing/2014/main" id="{D5AD08B8-4350-4B18-A06C-F3628DBA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26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1" name="s3-row-b-text">
            <a:extLst xmlns:a="http://schemas.openxmlformats.org/drawingml/2006/main">
              <a:ext uri="{FF2B5EF4-FFF2-40B4-BE49-F238E27FC236}">
                <a16:creationId xmlns:a16="http://schemas.microsoft.com/office/drawing/2014/main" id="{ACC6FE2F-FB05-45AF-82BF-92A594C5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97205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row_index.lumori</a:t>
            </a:r>
          </a:p>
        </p:txBody>
      </p:sp>
      <p:sp>
        <p:nvSpPr>
          <p:cNvPr id="22" name="s3-row-c">
            <a:extLst xmlns:a="http://schemas.openxmlformats.org/drawingml/2006/main">
              <a:ext uri="{FF2B5EF4-FFF2-40B4-BE49-F238E27FC236}">
                <a16:creationId xmlns:a16="http://schemas.microsoft.com/office/drawing/2014/main" id="{E3FAF1E4-8878-4687-83B6-2F284D9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226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23" name="s3-row-c-text">
            <a:extLst xmlns:a="http://schemas.openxmlformats.org/drawingml/2006/main">
              <a:ext uri="{FF2B5EF4-FFF2-40B4-BE49-F238E27FC236}">
                <a16:creationId xmlns:a16="http://schemas.microsoft.com/office/drawing/2014/main" id="{8C1ED817-8570-4BDD-88E5-7E4F6E96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720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row block</a:t>
            </a:r>
          </a:p>
        </p:txBody>
      </p:sp>
      <p:sp>
        <p:nvSpPr>
          <p:cNvPr id="24" name="s3-row-d">
            <a:extLst xmlns:a="http://schemas.openxmlformats.org/drawingml/2006/main">
              <a:ext uri="{FF2B5EF4-FFF2-40B4-BE49-F238E27FC236}">
                <a16:creationId xmlns:a16="http://schemas.microsoft.com/office/drawing/2014/main" id="{4F46BC91-289F-4159-A397-9B8A0FBB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0535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25" name="s3-row-d-text">
            <a:extLst xmlns:a="http://schemas.openxmlformats.org/drawingml/2006/main">
              <a:ext uri="{FF2B5EF4-FFF2-40B4-BE49-F238E27FC236}">
                <a16:creationId xmlns:a16="http://schemas.microsoft.com/office/drawing/2014/main" id="{04F6C1C9-90CD-4CE8-AF06-D982106A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9720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7A55"/>
                </a:solidFill>
                <a:latin typeface="PingFang SC"/>
                <a:ea typeface="PingFang SC"/>
                <a:cs typeface="PingFang SC"/>
              </a:defRPr>
            </a:pPr>
            <a:r>
              <a:t>Key -&gt; value</a:t>
            </a:r>
          </a:p>
        </p:txBody>
      </p:sp>
      <p:sp>
        <p:nvSpPr>
          <p:cNvPr id="26" name="s3-row-note">
            <a:extLst xmlns:a="http://schemas.openxmlformats.org/drawingml/2006/main">
              <a:ext uri="{FF2B5EF4-FFF2-40B4-BE49-F238E27FC236}">
                <a16:creationId xmlns:a16="http://schemas.microsoft.com/office/drawing/2014/main" id="{D1A2F1E6-4DA1-4CA8-950C-7AF848BE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981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RowId 定位 block；key 只在该 block 的局部开放寻址表内探测。</a:t>
            </a:r>
          </a:p>
        </p:txBody>
      </p:sp>
      <p:cxnSp>
        <p:nvCxnSpPr>
          <p:cNvPr id="56" name="footer-rule-3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8" name="footer-name-3">
            <a:extLst xmlns:a="http://schemas.openxmlformats.org/drawingml/2006/main">
              <a:ext uri="{FF2B5EF4-FFF2-40B4-BE49-F238E27FC236}">
                <a16:creationId xmlns:a16="http://schemas.microsoft.com/office/drawing/2014/main" id="{4E56CA77-A646-4F01-9836-B706351F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9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358887F-F22F-473E-AB2F-65082329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5326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5ED79916-BA77-406E-A8EF-A0AA4760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4504A77A-C0B9-417C-BD6C-6C1EA9FF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一个数据库目录由 value files 与 mmap indexes 构成</a:t>
            </a:r>
          </a:p>
        </p:txBody>
      </p:sp>
      <p:sp>
        <p:nvSpPr>
          <p:cNvPr id="3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D9DCAB92-CA4E-43C1-8163-1723EE79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row 不会变成小文件；文件数量由 rowShardCount 决定，默认 8 个 row value shard。</a:t>
            </a:r>
          </a:p>
        </p:txBody>
      </p:sp>
      <p:sp>
        <p:nvSpPr>
          <p:cNvPr id="4" name="s4-folder">
            <a:extLst xmlns:a="http://schemas.openxmlformats.org/drawingml/2006/main">
              <a:ext uri="{FF2B5EF4-FFF2-40B4-BE49-F238E27FC236}">
                <a16:creationId xmlns:a16="http://schemas.microsoft.com/office/drawing/2014/main" id="{5C93BFEB-CC13-4917-AA31-6981FEE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457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5" name="s4-folder-tab">
            <a:extLst xmlns:a="http://schemas.openxmlformats.org/drawingml/2006/main">
              <a:ext uri="{FF2B5EF4-FFF2-40B4-BE49-F238E27FC236}">
                <a16:creationId xmlns:a16="http://schemas.microsoft.com/office/drawing/2014/main" id="{46E87D24-1CF9-4C43-8195-84BEB67C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25"/>
          </a:solidFill>
          <a:ln xmlns:a="http://schemas.openxmlformats.org/drawingml/2006/main" w="0">
            <a:solidFill>
              <a:srgbClr val="172225"/>
            </a:solidFill>
            <a:prstDash val="solid"/>
          </a:ln>
        </p:spPr>
      </p:sp>
      <p:sp>
        <p:nvSpPr>
          <p:cNvPr id="6" name="s4-folder-title">
            <a:extLst xmlns:a="http://schemas.openxmlformats.org/drawingml/2006/main">
              <a:ext uri="{FF2B5EF4-FFF2-40B4-BE49-F238E27FC236}">
                <a16:creationId xmlns:a16="http://schemas.microsoft.com/office/drawing/2014/main" id="{CC04A8CE-B051-4A3E-8211-A56037A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database/</a:t>
            </a:r>
          </a:p>
        </p:txBody>
      </p:sp>
      <p:sp>
        <p:nvSpPr>
          <p:cNvPr id="7" name="s4-file-1">
            <a:extLst xmlns:a="http://schemas.openxmlformats.org/drawingml/2006/main">
              <a:ext uri="{FF2B5EF4-FFF2-40B4-BE49-F238E27FC236}">
                <a16:creationId xmlns:a16="http://schemas.microsoft.com/office/drawing/2014/main" id="{481F0CB4-6D60-4B6D-A4CB-DF244F7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values.lumov</a:t>
            </a:r>
          </a:p>
        </p:txBody>
      </p:sp>
      <p:sp>
        <p:nvSpPr>
          <p:cNvPr id="8" name="s4-file-2">
            <a:extLst xmlns:a="http://schemas.openxmlformats.org/drawingml/2006/main">
              <a:ext uri="{FF2B5EF4-FFF2-40B4-BE49-F238E27FC236}">
                <a16:creationId xmlns:a16="http://schemas.microsoft.com/office/drawing/2014/main" id="{4F1859DB-BF9E-4B82-8E75-961267D0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index.lumoi</a:t>
            </a:r>
          </a:p>
        </p:txBody>
      </p:sp>
      <p:sp>
        <p:nvSpPr>
          <p:cNvPr id="9" name="s4-file-3">
            <a:extLst xmlns:a="http://schemas.openxmlformats.org/drawingml/2006/main">
              <a:ext uri="{FF2B5EF4-FFF2-40B4-BE49-F238E27FC236}">
                <a16:creationId xmlns:a16="http://schemas.microsoft.com/office/drawing/2014/main" id="{B749905B-9FCD-463C-A29C-6EBBB6D3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row_index.lumori</a:t>
            </a:r>
          </a:p>
        </p:txBody>
      </p:sp>
      <p:sp>
        <p:nvSpPr>
          <p:cNvPr id="10" name="s4-file-4">
            <a:extLst xmlns:a="http://schemas.openxmlformats.org/drawingml/2006/main">
              <a:ext uri="{FF2B5EF4-FFF2-40B4-BE49-F238E27FC236}">
                <a16:creationId xmlns:a16="http://schemas.microsoft.com/office/drawing/2014/main" id="{C8D3FB27-BD7F-4C3A-AEB2-D0F03ECA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row_values-000.lumorv</a:t>
            </a:r>
          </a:p>
        </p:txBody>
      </p:sp>
      <p:sp>
        <p:nvSpPr>
          <p:cNvPr id="11" name="s4-file-5">
            <a:extLst xmlns:a="http://schemas.openxmlformats.org/drawingml/2006/main">
              <a:ext uri="{FF2B5EF4-FFF2-40B4-BE49-F238E27FC236}">
                <a16:creationId xmlns:a16="http://schemas.microsoft.com/office/drawing/2014/main" id="{6E57FF0A-2787-4CD8-BA73-AC5788A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row_values-001.lumorv</a:t>
            </a:r>
          </a:p>
        </p:txBody>
      </p:sp>
      <p:sp>
        <p:nvSpPr>
          <p:cNvPr id="12" name="s4-file-6">
            <a:extLst xmlns:a="http://schemas.openxmlformats.org/drawingml/2006/main">
              <a:ext uri="{FF2B5EF4-FFF2-40B4-BE49-F238E27FC236}">
                <a16:creationId xmlns:a16="http://schemas.microsoft.com/office/drawing/2014/main" id="{5F75BE46-42C9-4D9B-92B1-91DC7AE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... row_values-NNN.lumorv</a:t>
            </a:r>
          </a:p>
        </p:txBody>
      </p:sp>
      <p:sp>
        <p:nvSpPr>
          <p:cNvPr id="13" name="s4-file-note">
            <a:extLst xmlns:a="http://schemas.openxmlformats.org/drawingml/2006/main">
              <a:ext uri="{FF2B5EF4-FFF2-40B4-BE49-F238E27FC236}">
                <a16:creationId xmlns:a16="http://schemas.microsoft.com/office/drawing/2014/main" id="{F511A48B-61B9-4E8B-9336-0C2CA7B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默认 rowShardCount = 8
总文件数 = 3 + shardCount</a:t>
            </a:r>
          </a:p>
        </p:txBody>
      </p:sp>
      <p:sp>
        <p:nvSpPr>
          <p:cNvPr id="14" name="s4-object-box">
            <a:extLst xmlns:a="http://schemas.openxmlformats.org/drawingml/2006/main">
              <a:ext uri="{FF2B5EF4-FFF2-40B4-BE49-F238E27FC236}">
                <a16:creationId xmlns:a16="http://schemas.microsoft.com/office/drawing/2014/main" id="{8AE4F74A-084F-4611-B106-402D9B6C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76400"/>
            <a:ext cx="2952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5" name="s4-object-accent">
            <a:extLst xmlns:a="http://schemas.openxmlformats.org/drawingml/2006/main">
              <a:ext uri="{FF2B5EF4-FFF2-40B4-BE49-F238E27FC236}">
                <a16:creationId xmlns:a16="http://schemas.microsoft.com/office/drawing/2014/main" id="{D2FEA35C-7F0B-4ABE-A440-9FA5A222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764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AF"/>
          </a:solidFill>
          <a:ln xmlns:a="http://schemas.openxmlformats.org/drawingml/2006/main" w="0">
            <a:solidFill>
              <a:srgbClr val="2D6EAF"/>
            </a:solidFill>
            <a:prstDash val="solid"/>
          </a:ln>
        </p:spPr>
      </p:sp>
      <p:sp>
        <p:nvSpPr>
          <p:cNvPr id="16" name="s4-object-title">
            <a:extLst xmlns:a="http://schemas.openxmlformats.org/drawingml/2006/main">
              <a:ext uri="{FF2B5EF4-FFF2-40B4-BE49-F238E27FC236}">
                <a16:creationId xmlns:a16="http://schemas.microsoft.com/office/drawing/2014/main" id="{821E9A82-1A21-4C4F-BFB6-EB9D17B5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002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对象路径</a:t>
            </a:r>
          </a:p>
        </p:txBody>
      </p:sp>
      <p:sp>
        <p:nvSpPr>
          <p:cNvPr id="17" name="s4-object-body">
            <a:extLst xmlns:a="http://schemas.openxmlformats.org/drawingml/2006/main">
              <a:ext uri="{FF2B5EF4-FFF2-40B4-BE49-F238E27FC236}">
                <a16:creationId xmlns:a16="http://schemas.microsoft.com/office/drawing/2014/main" id="{30372155-7B08-4832-827A-B3BF9184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527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values.lumov
顺序记录：header | column | key | payload
index.lumoi
扁平 mmap hash bucket -&gt; record offset</a:t>
            </a:r>
          </a:p>
        </p:txBody>
      </p:sp>
      <p:sp>
        <p:nvSpPr>
          <p:cNvPr id="18" name="s4-row-box">
            <a:extLst xmlns:a="http://schemas.openxmlformats.org/drawingml/2006/main">
              <a:ext uri="{FF2B5EF4-FFF2-40B4-BE49-F238E27FC236}">
                <a16:creationId xmlns:a16="http://schemas.microsoft.com/office/drawing/2014/main" id="{6E0E6D6D-C509-427B-A945-C884AC2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3086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9" name="s4-row-accent">
            <a:extLst xmlns:a="http://schemas.openxmlformats.org/drawingml/2006/main">
              <a:ext uri="{FF2B5EF4-FFF2-40B4-BE49-F238E27FC236}">
                <a16:creationId xmlns:a16="http://schemas.microsoft.com/office/drawing/2014/main" id="{7B843AB2-B312-444A-B371-FC47E959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20" name="s4-row-title">
            <a:extLst xmlns:a="http://schemas.openxmlformats.org/drawingml/2006/main">
              <a:ext uri="{FF2B5EF4-FFF2-40B4-BE49-F238E27FC236}">
                <a16:creationId xmlns:a16="http://schemas.microsoft.com/office/drawing/2014/main" id="{AD3DA409-2E7D-44B6-B696-F113E602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514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行路径</a:t>
            </a:r>
          </a:p>
        </p:txBody>
      </p:sp>
      <p:sp>
        <p:nvSpPr>
          <p:cNvPr id="21" name="s4-row-body">
            <a:extLst xmlns:a="http://schemas.openxmlformats.org/drawingml/2006/main">
              <a:ext uri="{FF2B5EF4-FFF2-40B4-BE49-F238E27FC236}">
                <a16:creationId xmlns:a16="http://schemas.microsoft.com/office/drawing/2014/main" id="{2E04C830-287A-4438-9571-7B9A8F68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1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row_values-NNN.lumorv
每个 row 作为一个完整 block append
row_index.lumori
(column,rowId) -&gt; shard / offset / size</a:t>
            </a:r>
          </a:p>
        </p:txBody>
      </p:sp>
      <p:sp>
        <p:nvSpPr>
          <p:cNvPr id="22" name="s4-callout">
            <a:extLst xmlns:a="http://schemas.openxmlformats.org/drawingml/2006/main">
              <a:ext uri="{FF2B5EF4-FFF2-40B4-BE49-F238E27FC236}">
                <a16:creationId xmlns:a16="http://schemas.microsoft.com/office/drawing/2014/main" id="{C5615910-4C58-4DAC-9C8A-C9C98FA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38700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3" name="s4-callout-text">
            <a:extLst xmlns:a="http://schemas.openxmlformats.org/drawingml/2006/main">
              <a:ext uri="{FF2B5EF4-FFF2-40B4-BE49-F238E27FC236}">
                <a16:creationId xmlns:a16="http://schemas.microsoft.com/office/drawing/2014/main" id="{BBD70E4D-7063-4F1F-9E64-FE6A784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4825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Sharding 只把 row block 分摊到固定数量的 append 文件；
它不改变 RowId 与 key 的逻辑寻址方式。</a:t>
            </a:r>
          </a:p>
        </p:txBody>
      </p:sp>
      <p:cxnSp>
        <p:nvCxnSpPr>
          <p:cNvPr id="50" name="footer-rule-4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5" name="footer-name-4">
            <a:extLst xmlns:a="http://schemas.openxmlformats.org/drawingml/2006/main">
              <a:ext uri="{FF2B5EF4-FFF2-40B4-BE49-F238E27FC236}">
                <a16:creationId xmlns:a16="http://schemas.microsoft.com/office/drawing/2014/main" id="{A381ED42-071E-448D-ACAE-590254E7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6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565D06EC-BD0E-41FE-9A2C-9C05B73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8080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A84C6CD6-D6C3-4235-BF60-50A99FE6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E1645D20-9DD2-4E6C-AD84-7DDCCD9E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对象列：16-byte bucket 只保留定位所需的信息</a:t>
            </a:r>
          </a:p>
        </p:txBody>
      </p:sp>
      <p:sp>
        <p:nvSpPr>
          <p:cNvPr id="3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E9759E72-A180-4E8D-B545-F424DEB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hash 决定探测起点；真实 column 与 key 仍在 value record 中校验，避免把 hash 当作唯一身份。</a:t>
            </a:r>
          </a:p>
        </p:txBody>
      </p:sp>
      <p:cxnSp>
        <p:nvCxnSpPr>
          <p:cNvPr id="33" name="s5-a1"/>
          <p:cNvCxnSpPr/>
          <p:nvPr/>
        </p:nvCxnSpPr>
        <p:spPr>
          <a:xfrm xmlns:a="http://schemas.openxmlformats.org/drawingml/2006/main">
            <a:off x="2762250" y="2895600"/>
            <a:ext cx="990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EAF"/>
            </a:solidFill>
            <a:prstDash val="solid"/>
          </a:ln>
        </p:spPr>
      </p:cxnSp>
      <p:cxnSp>
        <p:nvCxnSpPr>
          <p:cNvPr id="34" name="s5-a2"/>
          <p:cNvCxnSpPr/>
          <p:nvPr/>
        </p:nvCxnSpPr>
        <p:spPr>
          <a:xfrm xmlns:a="http://schemas.openxmlformats.org/drawingml/2006/main">
            <a:off x="6334125" y="2895600"/>
            <a:ext cx="990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C7C7B"/>
            </a:solidFill>
            <a:prstDash val="solid"/>
          </a:ln>
        </p:spPr>
      </p:cxnSp>
      <p:sp>
        <p:nvSpPr>
          <p:cNvPr id="6" name="s5-input">
            <a:extLst xmlns:a="http://schemas.openxmlformats.org/drawingml/2006/main">
              <a:ext uri="{FF2B5EF4-FFF2-40B4-BE49-F238E27FC236}">
                <a16:creationId xmlns:a16="http://schemas.microsoft.com/office/drawing/2014/main" id="{4A4B27AE-5A3C-4146-B011-B2BF2FAA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247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7" name="s5-input-title">
            <a:extLst xmlns:a="http://schemas.openxmlformats.org/drawingml/2006/main">
              <a:ext uri="{FF2B5EF4-FFF2-40B4-BE49-F238E27FC236}">
                <a16:creationId xmlns:a16="http://schemas.microsoft.com/office/drawing/2014/main" id="{1380DB7C-528C-442C-A097-475170E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lookup input</a:t>
            </a:r>
          </a:p>
        </p:txBody>
      </p:sp>
      <p:sp>
        <p:nvSpPr>
          <p:cNvPr id="8" name="s5-input-body">
            <a:extLst xmlns:a="http://schemas.openxmlformats.org/drawingml/2006/main">
              <a:ext uri="{FF2B5EF4-FFF2-40B4-BE49-F238E27FC236}">
                <a16:creationId xmlns:a16="http://schemas.microsoft.com/office/drawing/2014/main" id="{169B25F4-53A8-461F-8DA1-71B79C3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column + key
combined hash</a:t>
            </a:r>
          </a:p>
        </p:txBody>
      </p:sp>
      <p:sp>
        <p:nvSpPr>
          <p:cNvPr id="9" name="s5-bucket">
            <a:extLst xmlns:a="http://schemas.openxmlformats.org/drawingml/2006/main">
              <a:ext uri="{FF2B5EF4-FFF2-40B4-BE49-F238E27FC236}">
                <a16:creationId xmlns:a16="http://schemas.microsoft.com/office/drawing/2014/main" id="{6143359E-24CC-454C-997F-8ED91DC8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2650"/>
            <a:ext cx="25812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0" name="s5-bucket-title">
            <a:extLst xmlns:a="http://schemas.openxmlformats.org/drawingml/2006/main">
              <a:ext uri="{FF2B5EF4-FFF2-40B4-BE49-F238E27FC236}">
                <a16:creationId xmlns:a16="http://schemas.microsoft.com/office/drawing/2014/main" id="{93068909-7952-4972-933E-69425D6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62200"/>
            <a:ext cx="213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IndexBucket · 16 B</a:t>
            </a:r>
          </a:p>
        </p:txBody>
      </p:sp>
      <p:cxnSp>
        <p:nvCxnSpPr>
          <p:cNvPr id="40" name="s5-bucket-rule"/>
          <p:cNvCxnSpPr/>
          <p:nvPr/>
        </p:nvCxnSpPr>
        <p:spPr>
          <a:xfrm xmlns:a="http://schemas.openxmlformats.org/drawingml/2006/main">
            <a:off x="3990975" y="2743200"/>
            <a:ext cx="21050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C7C7B"/>
            </a:solidFill>
            <a:prstDash val="solid"/>
          </a:ln>
        </p:spPr>
      </p:cxnSp>
      <p:sp>
        <p:nvSpPr>
          <p:cNvPr id="12" name="s5-bucket-a">
            <a:extLst xmlns:a="http://schemas.openxmlformats.org/drawingml/2006/main">
              <a:ext uri="{FF2B5EF4-FFF2-40B4-BE49-F238E27FC236}">
                <a16:creationId xmlns:a16="http://schemas.microsoft.com/office/drawing/2014/main" id="{5CACC3D3-1282-4F19-9E88-F623AFF9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uint64 hash</a:t>
            </a:r>
          </a:p>
        </p:txBody>
      </p:sp>
      <p:sp>
        <p:nvSpPr>
          <p:cNvPr id="13" name="s5-bucket-b">
            <a:extLst xmlns:a="http://schemas.openxmlformats.org/drawingml/2006/main">
              <a:ext uri="{FF2B5EF4-FFF2-40B4-BE49-F238E27FC236}">
                <a16:creationId xmlns:a16="http://schemas.microsoft.com/office/drawing/2014/main" id="{CF76B57F-EF76-48DB-8FEF-64C9C725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194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uint64 recordOffset</a:t>
            </a:r>
          </a:p>
        </p:txBody>
      </p:sp>
      <p:sp>
        <p:nvSpPr>
          <p:cNvPr id="14" name="s5-record">
            <a:extLst xmlns:a="http://schemas.openxmlformats.org/drawingml/2006/main">
              <a:ext uri="{FF2B5EF4-FFF2-40B4-BE49-F238E27FC236}">
                <a16:creationId xmlns:a16="http://schemas.microsoft.com/office/drawing/2014/main" id="{BD2760EC-1DD4-4257-8C53-13181A4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43100"/>
            <a:ext cx="4095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5" name="s5-record-title">
            <a:extLst xmlns:a="http://schemas.openxmlformats.org/drawingml/2006/main">
              <a:ext uri="{FF2B5EF4-FFF2-40B4-BE49-F238E27FC236}">
                <a16:creationId xmlns:a16="http://schemas.microsoft.com/office/drawing/2014/main" id="{52CD017C-A447-4170-AF0C-33F22B5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values.lumov record</a:t>
            </a:r>
          </a:p>
        </p:txBody>
      </p:sp>
      <p:sp>
        <p:nvSpPr>
          <p:cNvPr id="16" name="s5-rh">
            <a:extLst xmlns:a="http://schemas.openxmlformats.org/drawingml/2006/main">
              <a:ext uri="{FF2B5EF4-FFF2-40B4-BE49-F238E27FC236}">
                <a16:creationId xmlns:a16="http://schemas.microsoft.com/office/drawing/2014/main" id="{23CC0C15-C74D-4711-9162-77D4457F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9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7" name="s5-rh-t">
            <a:extLst xmlns:a="http://schemas.openxmlformats.org/drawingml/2006/main">
              <a:ext uri="{FF2B5EF4-FFF2-40B4-BE49-F238E27FC236}">
                <a16:creationId xmlns:a16="http://schemas.microsoft.com/office/drawing/2014/main" id="{C33E887E-79CC-4118-8A5E-39A6699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71775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header
24 B</a:t>
            </a:r>
          </a:p>
        </p:txBody>
      </p:sp>
      <p:sp>
        <p:nvSpPr>
          <p:cNvPr id="18" name="s5-rc">
            <a:extLst xmlns:a="http://schemas.openxmlformats.org/drawingml/2006/main">
              <a:ext uri="{FF2B5EF4-FFF2-40B4-BE49-F238E27FC236}">
                <a16:creationId xmlns:a16="http://schemas.microsoft.com/office/drawing/2014/main" id="{2E1D545A-D019-4082-93A5-CEA74BC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19" name="s5-rc-t">
            <a:extLst xmlns:a="http://schemas.openxmlformats.org/drawingml/2006/main">
              <a:ext uri="{FF2B5EF4-FFF2-40B4-BE49-F238E27FC236}">
                <a16:creationId xmlns:a16="http://schemas.microsoft.com/office/drawing/2014/main" id="{CFB38A53-AC23-4F85-AF52-A0D7514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47975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6EAF"/>
                </a:solidFill>
                <a:latin typeface="Menlo"/>
                <a:ea typeface="Menlo"/>
                <a:cs typeface="Menlo"/>
              </a:defRPr>
            </a:pPr>
            <a:r>
              <a:t>column</a:t>
            </a:r>
          </a:p>
        </p:txBody>
      </p:sp>
      <p:sp>
        <p:nvSpPr>
          <p:cNvPr id="20" name="s5-rk">
            <a:extLst xmlns:a="http://schemas.openxmlformats.org/drawingml/2006/main">
              <a:ext uri="{FF2B5EF4-FFF2-40B4-BE49-F238E27FC236}">
                <a16:creationId xmlns:a16="http://schemas.microsoft.com/office/drawing/2014/main" id="{F46F59D9-2A0C-4524-8576-060BFC54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21" name="s5-rk-t">
            <a:extLst xmlns:a="http://schemas.openxmlformats.org/drawingml/2006/main">
              <a:ext uri="{FF2B5EF4-FFF2-40B4-BE49-F238E27FC236}">
                <a16:creationId xmlns:a16="http://schemas.microsoft.com/office/drawing/2014/main" id="{D9ADA4EB-F09A-413A-868A-DE8AF93E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47975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key</a:t>
            </a:r>
          </a:p>
        </p:txBody>
      </p:sp>
      <p:sp>
        <p:nvSpPr>
          <p:cNvPr id="22" name="s5-rv">
            <a:extLst xmlns:a="http://schemas.openxmlformats.org/drawingml/2006/main">
              <a:ext uri="{FF2B5EF4-FFF2-40B4-BE49-F238E27FC236}">
                <a16:creationId xmlns:a16="http://schemas.microsoft.com/office/drawing/2014/main" id="{9BF6EDEB-C356-44AA-AAAC-C21C70D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8605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3" name="s5-rv-t">
            <a:extLst xmlns:a="http://schemas.openxmlformats.org/drawingml/2006/main">
              <a:ext uri="{FF2B5EF4-FFF2-40B4-BE49-F238E27FC236}">
                <a16:creationId xmlns:a16="http://schemas.microsoft.com/office/drawing/2014/main" id="{C3C634DF-4F06-46BB-B264-EA521493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47975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payload</a:t>
            </a:r>
          </a:p>
        </p:txBody>
      </p:sp>
      <p:sp>
        <p:nvSpPr>
          <p:cNvPr id="24" name="s5-notes">
            <a:extLst xmlns:a="http://schemas.openxmlformats.org/drawingml/2006/main">
              <a:ext uri="{FF2B5EF4-FFF2-40B4-BE49-F238E27FC236}">
                <a16:creationId xmlns:a16="http://schemas.microsoft.com/office/drawing/2014/main" id="{4F107E0D-E2B1-4E0F-9F68-FE52B118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1090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5" name="s5-notes-title">
            <a:extLst xmlns:a="http://schemas.openxmlformats.org/drawingml/2006/main">
              <a:ext uri="{FF2B5EF4-FFF2-40B4-BE49-F238E27FC236}">
                <a16:creationId xmlns:a16="http://schemas.microsoft.com/office/drawing/2014/main" id="{A46E0F09-025F-4EB9-8126-BC600C0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为什么不是“只用 hash”？</a:t>
            </a:r>
          </a:p>
        </p:txBody>
      </p:sp>
      <p:sp>
        <p:nvSpPr>
          <p:cNvPr id="26" name="s5-notes-body">
            <a:extLst xmlns:a="http://schemas.openxmlformats.org/drawingml/2006/main">
              <a:ext uri="{FF2B5EF4-FFF2-40B4-BE49-F238E27FC236}">
                <a16:creationId xmlns:a16="http://schemas.microsoft.com/office/drawing/2014/main" id="{F391EFA4-0C2E-4FFE-80CF-5534EDDB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1. 开放寻址沿 probe sequence 寻找候选 bucket。
2. 读取 record header 与保存的 column/key；只有完全匹配才命中。
3. PutUniqueStructs 对新 key 省去 overwrite 路径的 record 读取，但仍维护相同的紧凑索引。</a:t>
            </a:r>
          </a:p>
        </p:txBody>
      </p:sp>
      <p:cxnSp>
        <p:nvCxnSpPr>
          <p:cNvPr id="56" name="footer-rule-5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8" name="footer-name-5">
            <a:extLst xmlns:a="http://schemas.openxmlformats.org/drawingml/2006/main">
              <a:ext uri="{FF2B5EF4-FFF2-40B4-BE49-F238E27FC236}">
                <a16:creationId xmlns:a16="http://schemas.microsoft.com/office/drawing/2014/main" id="{9AFB1DB0-1CAD-4142-819C-C0C3545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38A2B5B0-C748-4754-B9AB-3C1F1805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0403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CE7D53B9-DD7D-4E79-A0D1-2EFA743E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4E95D45E-6C28-40A3-9968-06AA3B3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Row block：以 Column + RowId 作为独立存储单元</a:t>
            </a:r>
          </a:p>
        </p:txBody>
      </p:sp>
      <p:sp>
        <p:nvSpPr>
          <p:cNvPr id="3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AC9D16AB-3615-4E2C-8353-8CCE80FD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一个 row 的 key/value map 被一次性布局并 append 到固定 shard；它仍然通过 key 的局部 hash table 完成精确点查。</a:t>
            </a:r>
          </a:p>
        </p:txBody>
      </p:sp>
      <p:sp>
        <p:nvSpPr>
          <p:cNvPr id="4" name="s6-address">
            <a:extLst xmlns:a="http://schemas.openxmlformats.org/drawingml/2006/main">
              <a:ext uri="{FF2B5EF4-FFF2-40B4-BE49-F238E27FC236}">
                <a16:creationId xmlns:a16="http://schemas.microsoft.com/office/drawing/2014/main" id="{6B28B0EC-F630-49DC-B5B9-0EAB80F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26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row index lookup</a:t>
            </a:r>
          </a:p>
        </p:txBody>
      </p:sp>
      <p:sp>
        <p:nvSpPr>
          <p:cNvPr id="5" name="s6-addr">
            <a:extLst xmlns:a="http://schemas.openxmlformats.org/drawingml/2006/main">
              <a:ext uri="{FF2B5EF4-FFF2-40B4-BE49-F238E27FC236}">
                <a16:creationId xmlns:a16="http://schemas.microsoft.com/office/drawing/2014/main" id="{0510D866-CD3B-49CD-A4D3-D044267E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6" name="s6-addr-text">
            <a:extLst xmlns:a="http://schemas.openxmlformats.org/drawingml/2006/main">
              <a:ext uri="{FF2B5EF4-FFF2-40B4-BE49-F238E27FC236}">
                <a16:creationId xmlns:a16="http://schemas.microsoft.com/office/drawing/2014/main" id="{B458D4A7-A54A-4962-9C0A-A5989817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62175"/>
            <a:ext cx="1981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column + rowId
-&gt; shard / offset / size</a:t>
            </a:r>
          </a:p>
        </p:txBody>
      </p:sp>
      <p:cxnSp>
        <p:nvCxnSpPr>
          <p:cNvPr id="34" name="s6-connector"/>
          <p:cNvCxnSpPr/>
          <p:nvPr/>
        </p:nvCxnSpPr>
        <p:spPr>
          <a:xfrm xmlns:a="http://schemas.openxmlformats.org/drawingml/2006/main">
            <a:off x="2781300" y="2390775"/>
            <a:ext cx="7048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sp>
        <p:nvSpPr>
          <p:cNvPr id="8" name="s6-block-caption">
            <a:extLst xmlns:a="http://schemas.openxmlformats.org/drawingml/2006/main">
              <a:ext uri="{FF2B5EF4-FFF2-40B4-BE49-F238E27FC236}">
                <a16:creationId xmlns:a16="http://schemas.microsoft.com/office/drawing/2014/main" id="{6324B550-E2B4-4518-8F82-36D6407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row_values-NNN.lumorv @ blockOffset</a:t>
            </a:r>
          </a:p>
        </p:txBody>
      </p:sp>
      <p:sp>
        <p:nvSpPr>
          <p:cNvPr id="9" name="s6-block">
            <a:extLst xmlns:a="http://schemas.openxmlformats.org/drawingml/2006/main">
              <a:ext uri="{FF2B5EF4-FFF2-40B4-BE49-F238E27FC236}">
                <a16:creationId xmlns:a16="http://schemas.microsoft.com/office/drawing/2014/main" id="{67B70C8B-184A-4EB8-8168-51B693CE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79438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7A55"/>
            </a:solidFill>
            <a:prstDash val="solid"/>
          </a:ln>
        </p:spPr>
      </p:sp>
      <p:sp>
        <p:nvSpPr>
          <p:cNvPr id="10" name="s6-header">
            <a:extLst xmlns:a="http://schemas.openxmlformats.org/drawingml/2006/main">
              <a:ext uri="{FF2B5EF4-FFF2-40B4-BE49-F238E27FC236}">
                <a16:creationId xmlns:a16="http://schemas.microsoft.com/office/drawing/2014/main" id="{7E30B7F5-FEFA-44FA-A41B-4295026E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66950"/>
            <a:ext cx="1371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11" name="s6-header-title">
            <a:extLst xmlns:a="http://schemas.openxmlformats.org/drawingml/2006/main">
              <a:ext uri="{FF2B5EF4-FFF2-40B4-BE49-F238E27FC236}">
                <a16:creationId xmlns:a16="http://schemas.microsoft.com/office/drawing/2014/main" id="{F260E794-9D2D-4907-83D6-664835D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104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EAF"/>
                </a:solidFill>
                <a:latin typeface="Menlo"/>
                <a:ea typeface="Menlo"/>
                <a:cs typeface="Menlo"/>
              </a:defRPr>
            </a:pPr>
            <a:r>
              <a:t>RowBlock
Header
72 B</a:t>
            </a:r>
          </a:p>
        </p:txBody>
      </p:sp>
      <p:sp>
        <p:nvSpPr>
          <p:cNvPr id="12" name="s6-header-body">
            <a:extLst xmlns:a="http://schemas.openxmlformats.org/drawingml/2006/main">
              <a:ext uri="{FF2B5EF4-FFF2-40B4-BE49-F238E27FC236}">
                <a16:creationId xmlns:a16="http://schemas.microsoft.com/office/drawing/2014/main" id="{AB499A5B-9494-4212-96D3-65053EED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95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rowId
columnHash
itemCount
bucketCount
sizes</a:t>
            </a:r>
          </a:p>
        </p:txBody>
      </p:sp>
      <p:sp>
        <p:nvSpPr>
          <p:cNvPr id="13" name="s6-buckets">
            <a:extLst xmlns:a="http://schemas.openxmlformats.org/drawingml/2006/main">
              <a:ext uri="{FF2B5EF4-FFF2-40B4-BE49-F238E27FC236}">
                <a16:creationId xmlns:a16="http://schemas.microsoft.com/office/drawing/2014/main" id="{12A91481-0F3E-4232-90E5-F5171588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695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4" name="s6-buckets-title">
            <a:extLst xmlns:a="http://schemas.openxmlformats.org/drawingml/2006/main">
              <a:ext uri="{FF2B5EF4-FFF2-40B4-BE49-F238E27FC236}">
                <a16:creationId xmlns:a16="http://schemas.microsoft.com/office/drawing/2014/main" id="{54BB48D5-C222-4592-AD18-F7339F5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1428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RowKeyBucket[]
48 B x N</a:t>
            </a:r>
          </a:p>
        </p:txBody>
      </p:sp>
      <p:sp>
        <p:nvSpPr>
          <p:cNvPr id="15" name="s6-buckets-body">
            <a:extLst xmlns:a="http://schemas.openxmlformats.org/drawingml/2006/main">
              <a:ext uri="{FF2B5EF4-FFF2-40B4-BE49-F238E27FC236}">
                <a16:creationId xmlns:a16="http://schemas.microsoft.com/office/drawing/2014/main" id="{744DB55D-EC5D-4AF4-8928-95F636D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1466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key hash
key offset/size
value offset/size</a:t>
            </a:r>
          </a:p>
        </p:txBody>
      </p:sp>
      <p:sp>
        <p:nvSpPr>
          <p:cNvPr id="16" name="s6-column">
            <a:extLst xmlns:a="http://schemas.openxmlformats.org/drawingml/2006/main">
              <a:ext uri="{FF2B5EF4-FFF2-40B4-BE49-F238E27FC236}">
                <a16:creationId xmlns:a16="http://schemas.microsoft.com/office/drawing/2014/main" id="{4ACA55A0-3131-4A2B-8336-023D60F1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876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17" name="s6-column-title">
            <a:extLst xmlns:a="http://schemas.openxmlformats.org/drawingml/2006/main">
              <a:ext uri="{FF2B5EF4-FFF2-40B4-BE49-F238E27FC236}">
                <a16:creationId xmlns:a16="http://schemas.microsoft.com/office/drawing/2014/main" id="{9C7D8941-3C2C-43B2-BA3C-447B9855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33675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column
bytes</a:t>
            </a:r>
          </a:p>
        </p:txBody>
      </p:sp>
      <p:sp>
        <p:nvSpPr>
          <p:cNvPr id="18" name="s6-keys">
            <a:extLst xmlns:a="http://schemas.openxmlformats.org/drawingml/2006/main">
              <a:ext uri="{FF2B5EF4-FFF2-40B4-BE49-F238E27FC236}">
                <a16:creationId xmlns:a16="http://schemas.microsoft.com/office/drawing/2014/main" id="{58154368-6411-4DD3-AEBC-8C6CFD6D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1162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FE6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19" name="s6-keys-title">
            <a:extLst xmlns:a="http://schemas.openxmlformats.org/drawingml/2006/main">
              <a:ext uri="{FF2B5EF4-FFF2-40B4-BE49-F238E27FC236}">
                <a16:creationId xmlns:a16="http://schemas.microsoft.com/office/drawing/2014/main" id="{00D4B00E-67FE-48FF-9E3F-D2231BF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819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key
bytes</a:t>
            </a:r>
          </a:p>
        </p:txBody>
      </p:sp>
      <p:sp>
        <p:nvSpPr>
          <p:cNvPr id="20" name="s6-values">
            <a:extLst xmlns:a="http://schemas.openxmlformats.org/drawingml/2006/main">
              <a:ext uri="{FF2B5EF4-FFF2-40B4-BE49-F238E27FC236}">
                <a16:creationId xmlns:a16="http://schemas.microsoft.com/office/drawing/2014/main" id="{9E283E72-0F08-4F9D-A239-C8D94785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88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21" name="s6-values-title">
            <a:extLst xmlns:a="http://schemas.openxmlformats.org/drawingml/2006/main">
              <a:ext uri="{FF2B5EF4-FFF2-40B4-BE49-F238E27FC236}">
                <a16:creationId xmlns:a16="http://schemas.microsoft.com/office/drawing/2014/main" id="{A11C6FBE-8094-45D3-92AE-55D809C9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14625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value bytes</a:t>
            </a:r>
          </a:p>
        </p:txBody>
      </p:sp>
      <p:sp>
        <p:nvSpPr>
          <p:cNvPr id="22" name="s6-values-body">
            <a:extLst xmlns:a="http://schemas.openxmlformats.org/drawingml/2006/main">
              <a:ext uri="{FF2B5EF4-FFF2-40B4-BE49-F238E27FC236}">
                <a16:creationId xmlns:a16="http://schemas.microsoft.com/office/drawing/2014/main" id="{850C411B-2EE0-4CAE-B984-7A01AA8C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FlatBuffer / protobuf /
custom opaque bytes</a:t>
            </a:r>
          </a:p>
        </p:txBody>
      </p:sp>
      <p:sp>
        <p:nvSpPr>
          <p:cNvPr id="23" name="s6-read">
            <a:extLst xmlns:a="http://schemas.openxmlformats.org/drawingml/2006/main">
              <a:ext uri="{FF2B5EF4-FFF2-40B4-BE49-F238E27FC236}">
                <a16:creationId xmlns:a16="http://schemas.microsoft.com/office/drawing/2014/main" id="{75556A50-36CD-4608-AB36-0029835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029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4" name="s6-read-text">
            <a:extLst xmlns:a="http://schemas.openxmlformats.org/drawingml/2006/main">
              <a:ext uri="{FF2B5EF4-FFF2-40B4-BE49-F238E27FC236}">
                <a16:creationId xmlns:a16="http://schemas.microsoft.com/office/drawing/2014/main" id="{E7479A75-BE4D-4F7E-816E-8DB9403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43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GetRowStruct 不需要读完整 block：先读 row header，再 probe 局部 key bucket，校验 key，最后只读匹配 value。</a:t>
            </a:r>
          </a:p>
        </p:txBody>
      </p:sp>
      <p:cxnSp>
        <p:nvCxnSpPr>
          <p:cNvPr id="52" name="footer-rule-6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6" name="footer-name-6">
            <a:extLst xmlns:a="http://schemas.openxmlformats.org/drawingml/2006/main">
              <a:ext uri="{FF2B5EF4-FFF2-40B4-BE49-F238E27FC236}">
                <a16:creationId xmlns:a16="http://schemas.microsoft.com/office/drawing/2014/main" id="{1C86247B-16A2-4FAA-A824-E17E019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7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3DFB60C6-6F3F-43A4-947D-68977E8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3332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BFCE5E21-58CC-43B9-8A8F-A8B9AC11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FB149FB0-E71E-468B-BA70-C6BB911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写入沿顺序 append 推进，索引只保存定位信息</a:t>
            </a:r>
          </a:p>
        </p:txBody>
      </p:sp>
      <p:sp>
        <p:nvSpPr>
          <p:cNvPr id="3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3B2967D4-8F28-4AB8-B48A-2CA6E132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数据准备可以并行；LumoDB 的热路径避免把 payload 复制到一整个临时 row buffer 中。</a:t>
            </a:r>
          </a:p>
        </p:txBody>
      </p:sp>
      <p:cxnSp>
        <p:nvCxnSpPr>
          <p:cNvPr id="31" name="s7-l1"/>
          <p:cNvCxnSpPr/>
          <p:nvPr/>
        </p:nvCxnSpPr>
        <p:spPr>
          <a:xfrm xmlns:a="http://schemas.openxmlformats.org/drawingml/2006/main">
            <a:off x="2038350" y="3524250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cxnSp>
        <p:nvCxnSpPr>
          <p:cNvPr id="32" name="s7-l2"/>
          <p:cNvCxnSpPr/>
          <p:nvPr/>
        </p:nvCxnSpPr>
        <p:spPr>
          <a:xfrm xmlns:a="http://schemas.openxmlformats.org/drawingml/2006/main">
            <a:off x="4686300" y="3524250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cxnSp>
        <p:nvCxnSpPr>
          <p:cNvPr id="33" name="s7-l3"/>
          <p:cNvCxnSpPr/>
          <p:nvPr/>
        </p:nvCxnSpPr>
        <p:spPr>
          <a:xfrm xmlns:a="http://schemas.openxmlformats.org/drawingml/2006/main">
            <a:off x="7334250" y="3524250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sp>
        <p:nvSpPr>
          <p:cNvPr id="7" name="s7-step1">
            <a:extLst xmlns:a="http://schemas.openxmlformats.org/drawingml/2006/main">
              <a:ext uri="{FF2B5EF4-FFF2-40B4-BE49-F238E27FC236}">
                <a16:creationId xmlns:a16="http://schemas.microsoft.com/office/drawing/2014/main" id="{46A8C90F-C947-43C2-BC4A-F8F0928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638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8" name="s7-step1-no">
            <a:extLst xmlns:a="http://schemas.openxmlformats.org/drawingml/2006/main">
              <a:ext uri="{FF2B5EF4-FFF2-40B4-BE49-F238E27FC236}">
                <a16:creationId xmlns:a16="http://schemas.microsoft.com/office/drawing/2014/main" id="{605C29C9-BC54-42F8-9E91-8833C7A4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01</a:t>
            </a:r>
          </a:p>
        </p:txBody>
      </p:sp>
      <p:sp>
        <p:nvSpPr>
          <p:cNvPr id="9" name="s7-step1-t">
            <a:extLst xmlns:a="http://schemas.openxmlformats.org/drawingml/2006/main">
              <a:ext uri="{FF2B5EF4-FFF2-40B4-BE49-F238E27FC236}">
                <a16:creationId xmlns:a16="http://schemas.microsoft.com/office/drawing/2014/main" id="{27187D3D-A4C5-47A4-9778-472DCDE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准备数据</a:t>
            </a:r>
          </a:p>
        </p:txBody>
      </p:sp>
      <p:sp>
        <p:nvSpPr>
          <p:cNvPr id="10" name="s7-step1-b">
            <a:extLst xmlns:a="http://schemas.openxmlformats.org/drawingml/2006/main">
              <a:ext uri="{FF2B5EF4-FFF2-40B4-BE49-F238E27FC236}">
                <a16:creationId xmlns:a16="http://schemas.microsoft.com/office/drawing/2014/main" id="{F141841C-F1D3-40FE-9913-305F708E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04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序列化对象
构建 entries
计算 hash</a:t>
            </a:r>
          </a:p>
        </p:txBody>
      </p:sp>
      <p:sp>
        <p:nvSpPr>
          <p:cNvPr id="11" name="s7-step2">
            <a:extLst xmlns:a="http://schemas.openxmlformats.org/drawingml/2006/main">
              <a:ext uri="{FF2B5EF4-FFF2-40B4-BE49-F238E27FC236}">
                <a16:creationId xmlns:a16="http://schemas.microsoft.com/office/drawing/2014/main" id="{43EF6519-5886-49A4-89B4-F8A3C91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00300"/>
            <a:ext cx="17526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12" name="s7-step2-no">
            <a:extLst xmlns:a="http://schemas.openxmlformats.org/drawingml/2006/main">
              <a:ext uri="{FF2B5EF4-FFF2-40B4-BE49-F238E27FC236}">
                <a16:creationId xmlns:a16="http://schemas.microsoft.com/office/drawing/2014/main" id="{3D09C1B9-16AA-46CD-8E52-E19A35A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EAF"/>
                </a:solidFill>
                <a:latin typeface="Menlo"/>
                <a:ea typeface="Menlo"/>
                <a:cs typeface="Menlo"/>
              </a:defRPr>
            </a:pPr>
            <a:r>
              <a:t>02</a:t>
            </a:r>
          </a:p>
        </p:txBody>
      </p:sp>
      <p:sp>
        <p:nvSpPr>
          <p:cNvPr id="13" name="s7-step2-t">
            <a:extLst xmlns:a="http://schemas.openxmlformats.org/drawingml/2006/main">
              <a:ext uri="{FF2B5EF4-FFF2-40B4-BE49-F238E27FC236}">
                <a16:creationId xmlns:a16="http://schemas.microsoft.com/office/drawing/2014/main" id="{64877BE9-2AE4-4E27-A350-0977605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布局元数据</a:t>
            </a:r>
          </a:p>
        </p:txBody>
      </p:sp>
      <p:sp>
        <p:nvSpPr>
          <p:cNvPr id="14" name="s7-step2-b">
            <a:extLst xmlns:a="http://schemas.openxmlformats.org/drawingml/2006/main">
              <a:ext uri="{FF2B5EF4-FFF2-40B4-BE49-F238E27FC236}">
                <a16:creationId xmlns:a16="http://schemas.microsoft.com/office/drawing/2014/main" id="{9C31EA69-9C71-4C6E-80C7-44AC7C7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129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record header
或 row header +
local key buckets</a:t>
            </a:r>
          </a:p>
        </p:txBody>
      </p:sp>
      <p:sp>
        <p:nvSpPr>
          <p:cNvPr id="15" name="s7-step3">
            <a:extLst xmlns:a="http://schemas.openxmlformats.org/drawingml/2006/main">
              <a:ext uri="{FF2B5EF4-FFF2-40B4-BE49-F238E27FC236}">
                <a16:creationId xmlns:a16="http://schemas.microsoft.com/office/drawing/2014/main" id="{D892B1D7-0770-4520-AC93-6B4A442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00300"/>
            <a:ext cx="17526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6" name="s7-step3-no">
            <a:extLst xmlns:a="http://schemas.openxmlformats.org/drawingml/2006/main">
              <a:ext uri="{FF2B5EF4-FFF2-40B4-BE49-F238E27FC236}">
                <a16:creationId xmlns:a16="http://schemas.microsoft.com/office/drawing/2014/main" id="{524C2A57-713D-4ED4-8EAB-3702667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03</a:t>
            </a:r>
          </a:p>
        </p:txBody>
      </p:sp>
      <p:sp>
        <p:nvSpPr>
          <p:cNvPr id="17" name="s7-step3-t">
            <a:extLst xmlns:a="http://schemas.openxmlformats.org/drawingml/2006/main">
              <a:ext uri="{FF2B5EF4-FFF2-40B4-BE49-F238E27FC236}">
                <a16:creationId xmlns:a16="http://schemas.microsoft.com/office/drawing/2014/main" id="{A3FBF4EE-31B9-493A-81E2-C07E239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append 落盘</a:t>
            </a:r>
          </a:p>
        </p:txBody>
      </p:sp>
      <p:sp>
        <p:nvSpPr>
          <p:cNvPr id="18" name="s7-step3-b">
            <a:extLst xmlns:a="http://schemas.openxmlformats.org/drawingml/2006/main">
              <a:ext uri="{FF2B5EF4-FFF2-40B4-BE49-F238E27FC236}">
                <a16:creationId xmlns:a16="http://schemas.microsoft.com/office/drawing/2014/main" id="{8D01BB4B-A79C-4A09-B353-FF10D6AE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129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object: record
row: pwritev slices
写入互不重叠 range</a:t>
            </a:r>
          </a:p>
        </p:txBody>
      </p:sp>
      <p:sp>
        <p:nvSpPr>
          <p:cNvPr id="19" name="s7-step4">
            <a:extLst xmlns:a="http://schemas.openxmlformats.org/drawingml/2006/main">
              <a:ext uri="{FF2B5EF4-FFF2-40B4-BE49-F238E27FC236}">
                <a16:creationId xmlns:a16="http://schemas.microsoft.com/office/drawing/2014/main" id="{363AA60A-C210-4883-8DC4-45F2A053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1813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0" name="s7-step4-no">
            <a:extLst xmlns:a="http://schemas.openxmlformats.org/drawingml/2006/main">
              <a:ext uri="{FF2B5EF4-FFF2-40B4-BE49-F238E27FC236}">
                <a16:creationId xmlns:a16="http://schemas.microsoft.com/office/drawing/2014/main" id="{58276C5D-88FD-4F80-8E07-B2B48776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04</a:t>
            </a:r>
          </a:p>
        </p:txBody>
      </p:sp>
      <p:sp>
        <p:nvSpPr>
          <p:cNvPr id="21" name="s7-step4-t">
            <a:extLst xmlns:a="http://schemas.openxmlformats.org/drawingml/2006/main">
              <a:ext uri="{FF2B5EF4-FFF2-40B4-BE49-F238E27FC236}">
                <a16:creationId xmlns:a16="http://schemas.microsoft.com/office/drawing/2014/main" id="{53496072-34B8-464A-BB4A-EFD0A8E4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发布索引位置</a:t>
            </a:r>
          </a:p>
        </p:txBody>
      </p:sp>
      <p:sp>
        <p:nvSpPr>
          <p:cNvPr id="22" name="s7-step4-b">
            <a:extLst xmlns:a="http://schemas.openxmlformats.org/drawingml/2006/main">
              <a:ext uri="{FF2B5EF4-FFF2-40B4-BE49-F238E27FC236}">
                <a16:creationId xmlns:a16="http://schemas.microsoft.com/office/drawing/2014/main" id="{7219215A-7674-43C5-8F6D-4C6D2A6F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Menlo"/>
                <a:ea typeface="Menlo"/>
                <a:cs typeface="Menlo"/>
              </a:defRPr>
            </a:pPr>
            <a:r>
              <a:t>object: hash -&gt; recordOffset
row: (column,rowId) -&gt;
shard / offset / blockSize</a:t>
            </a:r>
          </a:p>
        </p:txBody>
      </p:sp>
      <p:sp>
        <p:nvSpPr>
          <p:cNvPr id="23" name="s7-note">
            <a:extLst xmlns:a="http://schemas.openxmlformats.org/drawingml/2006/main">
              <a:ext uri="{FF2B5EF4-FFF2-40B4-BE49-F238E27FC236}">
                <a16:creationId xmlns:a16="http://schemas.microsoft.com/office/drawing/2014/main" id="{EA2C9709-DAAD-4825-8360-B2F0D84D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1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4" name="s7-note-text">
            <a:extLst xmlns:a="http://schemas.openxmlformats.org/drawingml/2006/main">
              <a:ext uri="{FF2B5EF4-FFF2-40B4-BE49-F238E27FC236}">
                <a16:creationId xmlns:a16="http://schemas.microsoft.com/office/drawing/2014/main" id="{16FF0DF9-2CFD-462B-A1BE-7E24806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47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性能诊断应区分 payload 序列化/准备时间 与 LumoDB 的 append + index 发布时间；两者不是同一个瓶颈。</a:t>
            </a:r>
          </a:p>
        </p:txBody>
      </p:sp>
      <p:cxnSp>
        <p:nvCxnSpPr>
          <p:cNvPr id="52" name="footer-rule-7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6" name="footer-name-7">
            <a:extLst xmlns:a="http://schemas.openxmlformats.org/drawingml/2006/main">
              <a:ext uri="{FF2B5EF4-FFF2-40B4-BE49-F238E27FC236}">
                <a16:creationId xmlns:a16="http://schemas.microsoft.com/office/drawing/2014/main" id="{00ED66C5-DA18-407B-90B4-285E5554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7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EEBD731C-6584-4B88-ADEE-E2BBB92F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6748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7AB157B1-D207-4532-8FC6-454B60EA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0451F0E3-C1CC-460E-AEF1-8EC3A97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并行写入的粒度是 row，而不是 column 或 key</a:t>
            </a:r>
          </a:p>
        </p:txBody>
      </p:sp>
      <p:sp>
        <p:nvSpPr>
          <p:cNvPr id="3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A075A439-E289-4D1D-B103-C914A1AD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同一 column 下，不同 rowId 可并行；同一 row 的变更需要由调用方串行化并选择正确 API。</a:t>
            </a:r>
          </a:p>
        </p:txBody>
      </p:sp>
      <p:sp>
        <p:nvSpPr>
          <p:cNvPr id="4" name="s8-good">
            <a:extLst xmlns:a="http://schemas.openxmlformats.org/drawingml/2006/main">
              <a:ext uri="{FF2B5EF4-FFF2-40B4-BE49-F238E27FC236}">
                <a16:creationId xmlns:a16="http://schemas.microsoft.com/office/drawing/2014/main" id="{C7A2F505-18AD-4A40-904A-41C10D3A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A55"/>
                </a:solidFill>
                <a:latin typeface="PingFang SC"/>
                <a:ea typeface="PingFang SC"/>
                <a:cs typeface="PingFang SC"/>
              </a:defRPr>
            </a:pPr>
            <a:r>
              <a:t>可并行：同 column，不同 rowId</a:t>
            </a:r>
          </a:p>
        </p:txBody>
      </p:sp>
      <p:sp>
        <p:nvSpPr>
          <p:cNvPr id="5" name="s8-bad">
            <a:extLst xmlns:a="http://schemas.openxmlformats.org/drawingml/2006/main">
              <a:ext uri="{FF2B5EF4-FFF2-40B4-BE49-F238E27FC236}">
                <a16:creationId xmlns:a16="http://schemas.microsoft.com/office/drawing/2014/main" id="{D1DFE23E-DE16-48A3-ABAE-42FE9B2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85925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54A42"/>
                </a:solidFill>
                <a:latin typeface="PingFang SC"/>
                <a:ea typeface="PingFang SC"/>
                <a:cs typeface="PingFang SC"/>
              </a:defRPr>
            </a:pPr>
            <a:r>
              <a:t>调用方串行：同 column，同 rowId</a:t>
            </a:r>
          </a:p>
        </p:txBody>
      </p:sp>
      <p:cxnSp>
        <p:nvCxnSpPr>
          <p:cNvPr id="38" name="s8-good-line"/>
          <p:cNvCxnSpPr/>
          <p:nvPr/>
        </p:nvCxnSpPr>
        <p:spPr>
          <a:xfrm xmlns:a="http://schemas.openxmlformats.org/drawingml/2006/main">
            <a:off x="933450" y="3829050"/>
            <a:ext cx="411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C7A55"/>
            </a:solidFill>
            <a:prstDash val="solid"/>
          </a:ln>
        </p:spPr>
      </p:cxnSp>
      <p:cxnSp>
        <p:nvCxnSpPr>
          <p:cNvPr id="39" name="s8-bad-line"/>
          <p:cNvCxnSpPr/>
          <p:nvPr/>
        </p:nvCxnSpPr>
        <p:spPr>
          <a:xfrm xmlns:a="http://schemas.openxmlformats.org/drawingml/2006/main">
            <a:off x="7105650" y="3829050"/>
            <a:ext cx="4095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54A42"/>
            </a:solidFill>
            <a:prstDash val="solid"/>
          </a:ln>
        </p:spPr>
      </p:cxnSp>
      <p:sp>
        <p:nvSpPr>
          <p:cNvPr id="8" name="s8-gd1">
            <a:extLst xmlns:a="http://schemas.openxmlformats.org/drawingml/2006/main">
              <a:ext uri="{FF2B5EF4-FFF2-40B4-BE49-F238E27FC236}">
                <a16:creationId xmlns:a16="http://schemas.microsoft.com/office/drawing/2014/main" id="{EA9F5A0C-6F9F-4225-B29C-4554BC47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55"/>
          </a:solidFill>
          <a:ln xmlns:a="http://schemas.openxmlformats.org/drawingml/2006/main" w="0">
            <a:solidFill>
              <a:srgbClr val="2C7A55"/>
            </a:solidFill>
            <a:prstDash val="solid"/>
          </a:ln>
        </p:spPr>
      </p:sp>
      <p:sp>
        <p:nvSpPr>
          <p:cNvPr id="9" name="s8-gd2">
            <a:extLst xmlns:a="http://schemas.openxmlformats.org/drawingml/2006/main">
              <a:ext uri="{FF2B5EF4-FFF2-40B4-BE49-F238E27FC236}">
                <a16:creationId xmlns:a16="http://schemas.microsoft.com/office/drawing/2014/main" id="{11D2CC06-6E00-4CC9-BC34-69FA7661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55"/>
          </a:solidFill>
          <a:ln xmlns:a="http://schemas.openxmlformats.org/drawingml/2006/main" w="0">
            <a:solidFill>
              <a:srgbClr val="2C7A55"/>
            </a:solidFill>
            <a:prstDash val="solid"/>
          </a:ln>
        </p:spPr>
      </p:sp>
      <p:sp>
        <p:nvSpPr>
          <p:cNvPr id="10" name="s8-gd3">
            <a:extLst xmlns:a="http://schemas.openxmlformats.org/drawingml/2006/main">
              <a:ext uri="{FF2B5EF4-FFF2-40B4-BE49-F238E27FC236}">
                <a16:creationId xmlns:a16="http://schemas.microsoft.com/office/drawing/2014/main" id="{95A9B17B-05E9-4E3F-B228-E2C793E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55"/>
          </a:solidFill>
          <a:ln xmlns:a="http://schemas.openxmlformats.org/drawingml/2006/main" w="0">
            <a:solidFill>
              <a:srgbClr val="2C7A55"/>
            </a:solidFill>
            <a:prstDash val="solid"/>
          </a:ln>
        </p:spPr>
      </p:sp>
      <p:sp>
        <p:nvSpPr>
          <p:cNvPr id="11" name="s8-bd1">
            <a:extLst xmlns:a="http://schemas.openxmlformats.org/drawingml/2006/main">
              <a:ext uri="{FF2B5EF4-FFF2-40B4-BE49-F238E27FC236}">
                <a16:creationId xmlns:a16="http://schemas.microsoft.com/office/drawing/2014/main" id="{99289612-694A-468A-83D4-4DF518C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A42"/>
          </a:solidFill>
          <a:ln xmlns:a="http://schemas.openxmlformats.org/drawingml/2006/main" w="0">
            <a:solidFill>
              <a:srgbClr val="A54A42"/>
            </a:solidFill>
            <a:prstDash val="solid"/>
          </a:ln>
        </p:spPr>
      </p:sp>
      <p:sp>
        <p:nvSpPr>
          <p:cNvPr id="12" name="s8-bd2">
            <a:extLst xmlns:a="http://schemas.openxmlformats.org/drawingml/2006/main">
              <a:ext uri="{FF2B5EF4-FFF2-40B4-BE49-F238E27FC236}">
                <a16:creationId xmlns:a16="http://schemas.microsoft.com/office/drawing/2014/main" id="{2A9705BA-AA32-47D3-8E1B-73E2FAF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A42"/>
          </a:solidFill>
          <a:ln xmlns:a="http://schemas.openxmlformats.org/drawingml/2006/main" w="0">
            <a:solidFill>
              <a:srgbClr val="A54A42"/>
            </a:solidFill>
            <a:prstDash val="solid"/>
          </a:ln>
        </p:spPr>
      </p:sp>
      <p:sp>
        <p:nvSpPr>
          <p:cNvPr id="13" name="s8-bd3">
            <a:extLst xmlns:a="http://schemas.openxmlformats.org/drawingml/2006/main">
              <a:ext uri="{FF2B5EF4-FFF2-40B4-BE49-F238E27FC236}">
                <a16:creationId xmlns:a16="http://schemas.microsoft.com/office/drawing/2014/main" id="{DFDE511D-6252-410E-9F8F-B67C14C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A42"/>
          </a:solidFill>
          <a:ln xmlns:a="http://schemas.openxmlformats.org/drawingml/2006/main" w="0">
            <a:solidFill>
              <a:srgbClr val="A54A42"/>
            </a:solidFill>
            <a:prstDash val="solid"/>
          </a:ln>
        </p:spPr>
      </p:sp>
      <p:sp>
        <p:nvSpPr>
          <p:cNvPr id="14" name="s8-g-1">
            <a:extLst xmlns:a="http://schemas.openxmlformats.org/drawingml/2006/main">
              <a:ext uri="{FF2B5EF4-FFF2-40B4-BE49-F238E27FC236}">
                <a16:creationId xmlns:a16="http://schemas.microsoft.com/office/drawing/2014/main" id="{39BA7BE5-AB99-46D0-8438-D33F769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144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5" name="s8-g-1t">
            <a:extLst xmlns:a="http://schemas.openxmlformats.org/drawingml/2006/main">
              <a:ext uri="{FF2B5EF4-FFF2-40B4-BE49-F238E27FC236}">
                <a16:creationId xmlns:a16="http://schemas.microsoft.com/office/drawing/2014/main" id="{873D7414-76A4-4529-A2F9-0B18AB30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670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Row 101</a:t>
            </a:r>
          </a:p>
        </p:txBody>
      </p:sp>
      <p:sp>
        <p:nvSpPr>
          <p:cNvPr id="16" name="s8-g-2">
            <a:extLst xmlns:a="http://schemas.openxmlformats.org/drawingml/2006/main">
              <a:ext uri="{FF2B5EF4-FFF2-40B4-BE49-F238E27FC236}">
                <a16:creationId xmlns:a16="http://schemas.microsoft.com/office/drawing/2014/main" id="{5F1E24F2-66BB-41FF-AF67-2D56750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19350"/>
            <a:ext cx="144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7" name="s8-g-2t">
            <a:extLst xmlns:a="http://schemas.openxmlformats.org/drawingml/2006/main">
              <a:ext uri="{FF2B5EF4-FFF2-40B4-BE49-F238E27FC236}">
                <a16:creationId xmlns:a16="http://schemas.microsoft.com/office/drawing/2014/main" id="{E642E8D4-4FF8-42C9-838C-69787D6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670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Row 102</a:t>
            </a:r>
          </a:p>
        </p:txBody>
      </p:sp>
      <p:sp>
        <p:nvSpPr>
          <p:cNvPr id="18" name="s8-g-3">
            <a:extLst xmlns:a="http://schemas.openxmlformats.org/drawingml/2006/main">
              <a:ext uri="{FF2B5EF4-FFF2-40B4-BE49-F238E27FC236}">
                <a16:creationId xmlns:a16="http://schemas.microsoft.com/office/drawing/2014/main" id="{ECE2B8E7-34FB-4C49-B5C7-8128C1B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19350"/>
            <a:ext cx="144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9" name="s8-g-3t">
            <a:extLst xmlns:a="http://schemas.openxmlformats.org/drawingml/2006/main">
              <a:ext uri="{FF2B5EF4-FFF2-40B4-BE49-F238E27FC236}">
                <a16:creationId xmlns:a16="http://schemas.microsoft.com/office/drawing/2014/main" id="{559BFABB-7BC0-4683-AE00-311571E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670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Row 103</a:t>
            </a:r>
          </a:p>
        </p:txBody>
      </p:sp>
      <p:sp>
        <p:nvSpPr>
          <p:cNvPr id="20" name="s8-g-note">
            <a:extLst xmlns:a="http://schemas.openxmlformats.org/drawingml/2006/main">
              <a:ext uri="{FF2B5EF4-FFF2-40B4-BE49-F238E27FC236}">
                <a16:creationId xmlns:a16="http://schemas.microsoft.com/office/drawing/2014/main" id="{AEDC163B-15E3-4D9C-80D1-C7147F03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0"/>
            <a:ext cx="499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PutRowStructs 完整构建各自 row block；
用 atomic offset 预留 disjoint file range；
row index bucket 用 CAS 发布。</a:t>
            </a:r>
          </a:p>
        </p:txBody>
      </p:sp>
      <p:sp>
        <p:nvSpPr>
          <p:cNvPr id="21" name="s8-b-1">
            <a:extLst xmlns:a="http://schemas.openxmlformats.org/drawingml/2006/main">
              <a:ext uri="{FF2B5EF4-FFF2-40B4-BE49-F238E27FC236}">
                <a16:creationId xmlns:a16="http://schemas.microsoft.com/office/drawing/2014/main" id="{B2484D9B-96A7-437C-A242-71756E7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144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DE"/>
          </a:solidFill>
          <a:ln xmlns:a="http://schemas.openxmlformats.org/drawingml/2006/main" w="9525">
            <a:solidFill>
              <a:srgbClr val="A54A42"/>
            </a:solidFill>
            <a:prstDash val="solid"/>
          </a:ln>
        </p:spPr>
      </p:sp>
      <p:sp>
        <p:nvSpPr>
          <p:cNvPr id="22" name="s8-b-1t">
            <a:extLst xmlns:a="http://schemas.openxmlformats.org/drawingml/2006/main">
              <a:ext uri="{FF2B5EF4-FFF2-40B4-BE49-F238E27FC236}">
                <a16:creationId xmlns:a16="http://schemas.microsoft.com/office/drawing/2014/main" id="{A260B8F3-C269-4A87-A634-6AF12D1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670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4A42"/>
                </a:solidFill>
                <a:latin typeface="Menlo"/>
                <a:ea typeface="Menlo"/>
                <a:cs typeface="Menlo"/>
              </a:defRPr>
            </a:pPr>
            <a:r>
              <a:t>Row 101</a:t>
            </a:r>
          </a:p>
        </p:txBody>
      </p:sp>
      <p:sp>
        <p:nvSpPr>
          <p:cNvPr id="23" name="s8-b-2">
            <a:extLst xmlns:a="http://schemas.openxmlformats.org/drawingml/2006/main">
              <a:ext uri="{FF2B5EF4-FFF2-40B4-BE49-F238E27FC236}">
                <a16:creationId xmlns:a16="http://schemas.microsoft.com/office/drawing/2014/main" id="{FCCE439E-1C06-4D3F-BFCA-CD60538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144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DE"/>
          </a:solidFill>
          <a:ln xmlns:a="http://schemas.openxmlformats.org/drawingml/2006/main" w="9525">
            <a:solidFill>
              <a:srgbClr val="A54A42"/>
            </a:solidFill>
            <a:prstDash val="solid"/>
          </a:ln>
        </p:spPr>
      </p:sp>
      <p:sp>
        <p:nvSpPr>
          <p:cNvPr id="24" name="s8-b-2t">
            <a:extLst xmlns:a="http://schemas.openxmlformats.org/drawingml/2006/main">
              <a:ext uri="{FF2B5EF4-FFF2-40B4-BE49-F238E27FC236}">
                <a16:creationId xmlns:a16="http://schemas.microsoft.com/office/drawing/2014/main" id="{0649A6EA-8036-4074-8E5C-64001D2A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670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4A42"/>
                </a:solidFill>
                <a:latin typeface="Menlo"/>
                <a:ea typeface="Menlo"/>
                <a:cs typeface="Menlo"/>
              </a:defRPr>
            </a:pPr>
            <a:r>
              <a:t>Row 101</a:t>
            </a:r>
          </a:p>
        </p:txBody>
      </p:sp>
      <p:sp>
        <p:nvSpPr>
          <p:cNvPr id="25" name="s8-b-3">
            <a:extLst xmlns:a="http://schemas.openxmlformats.org/drawingml/2006/main">
              <a:ext uri="{FF2B5EF4-FFF2-40B4-BE49-F238E27FC236}">
                <a16:creationId xmlns:a16="http://schemas.microsoft.com/office/drawing/2014/main" id="{090FD47F-046D-45D9-AD81-3832C55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19350"/>
            <a:ext cx="144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DE"/>
          </a:solidFill>
          <a:ln xmlns:a="http://schemas.openxmlformats.org/drawingml/2006/main" w="9525">
            <a:solidFill>
              <a:srgbClr val="A54A42"/>
            </a:solidFill>
            <a:prstDash val="solid"/>
          </a:ln>
        </p:spPr>
      </p:sp>
      <p:sp>
        <p:nvSpPr>
          <p:cNvPr id="26" name="s8-b-3t">
            <a:extLst xmlns:a="http://schemas.openxmlformats.org/drawingml/2006/main">
              <a:ext uri="{FF2B5EF4-FFF2-40B4-BE49-F238E27FC236}">
                <a16:creationId xmlns:a16="http://schemas.microsoft.com/office/drawing/2014/main" id="{7178AAA5-F223-4400-AEC5-639A088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670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4A42"/>
                </a:solidFill>
                <a:latin typeface="Menlo"/>
                <a:ea typeface="Menlo"/>
                <a:cs typeface="Menlo"/>
              </a:defRPr>
            </a:pPr>
            <a:r>
              <a:t>Row 101</a:t>
            </a:r>
          </a:p>
        </p:txBody>
      </p:sp>
      <p:sp>
        <p:nvSpPr>
          <p:cNvPr id="27" name="s8-b-note">
            <a:extLst xmlns:a="http://schemas.openxmlformats.org/drawingml/2006/main">
              <a:ext uri="{FF2B5EF4-FFF2-40B4-BE49-F238E27FC236}">
                <a16:creationId xmlns:a16="http://schemas.microsoft.com/office/drawing/2014/main" id="{191CB98B-E628-4A8E-AC61-16A0599B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86250"/>
            <a:ext cx="499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同一 row 的追加/替换会重建该 row block。
用 PutRowStruct 保持 overwrite 语义，
但由调用方确保该 row 的写入串行。</a:t>
            </a:r>
          </a:p>
        </p:txBody>
      </p:sp>
      <p:sp>
        <p:nvSpPr>
          <p:cNvPr id="28" name="s8-summary">
            <a:extLst xmlns:a="http://schemas.openxmlformats.org/drawingml/2006/main">
              <a:ext uri="{FF2B5EF4-FFF2-40B4-BE49-F238E27FC236}">
                <a16:creationId xmlns:a16="http://schemas.microsoft.com/office/drawing/2014/main" id="{3076E8BE-FB9B-4441-A859-06826EE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10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9" name="s8-summary-t">
            <a:extLst xmlns:a="http://schemas.openxmlformats.org/drawingml/2006/main">
              <a:ext uri="{FF2B5EF4-FFF2-40B4-BE49-F238E27FC236}">
                <a16:creationId xmlns:a16="http://schemas.microsoft.com/office/drawing/2014/main" id="{A21FF13B-A134-4E6D-B0E2-EE676E14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10458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初始 row index 容量必须覆盖预期 row 数；live row writes 不在热路径 resize mmap index。</a:t>
            </a:r>
          </a:p>
        </p:txBody>
      </p:sp>
      <p:cxnSp>
        <p:nvCxnSpPr>
          <p:cNvPr id="62" name="footer-rule-8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31" name="footer-name-8">
            <a:extLst xmlns:a="http://schemas.openxmlformats.org/drawingml/2006/main">
              <a:ext uri="{FF2B5EF4-FFF2-40B4-BE49-F238E27FC236}">
                <a16:creationId xmlns:a16="http://schemas.microsoft.com/office/drawing/2014/main" id="{B730364D-60A4-4BE7-9E07-2ED0BC03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3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69E9C990-8644-457F-A0F7-08EDBB7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9349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26999B9E-993B-477A-BB0F-78F62D21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8E9D064C-01E9-4F73-A13B-97C0996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读取只走定位链，不扫描其他 row 或 object</a:t>
            </a:r>
          </a:p>
        </p:txBody>
      </p:sp>
      <p:sp>
        <p:nvSpPr>
          <p:cNvPr id="3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CE5C1AE0-2AAF-4C3B-9540-743CB24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读取接口要求调用者已知 column、rowId（如有）和 key；索引把它们导向最小需要读取的字节范围。</a:t>
            </a:r>
          </a:p>
        </p:txBody>
      </p:sp>
      <p:sp>
        <p:nvSpPr>
          <p:cNvPr id="4" name="s9-left-title">
            <a:extLst xmlns:a="http://schemas.openxmlformats.org/drawingml/2006/main">
              <a:ext uri="{FF2B5EF4-FFF2-40B4-BE49-F238E27FC236}">
                <a16:creationId xmlns:a16="http://schemas.microsoft.com/office/drawing/2014/main" id="{16470E43-0366-414B-B884-776EBDB1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EAF"/>
                </a:solidFill>
                <a:latin typeface="Menlo"/>
                <a:ea typeface="Menlo"/>
                <a:cs typeface="Menlo"/>
              </a:defRPr>
            </a:pPr>
            <a:r>
              <a:t>GetStruct(column, key)</a:t>
            </a:r>
          </a:p>
        </p:txBody>
      </p:sp>
      <p:sp>
        <p:nvSpPr>
          <p:cNvPr id="5" name="s9-right-title">
            <a:extLst xmlns:a="http://schemas.openxmlformats.org/drawingml/2006/main">
              <a:ext uri="{FF2B5EF4-FFF2-40B4-BE49-F238E27FC236}">
                <a16:creationId xmlns:a16="http://schemas.microsoft.com/office/drawing/2014/main" id="{158F5463-E337-4CBA-8E5A-6025DA78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GetRowStruct(column, rowId, key)</a:t>
            </a:r>
          </a:p>
        </p:txBody>
      </p:sp>
      <p:cxnSp>
        <p:nvCxnSpPr>
          <p:cNvPr id="35" name="s9-l1"/>
          <p:cNvCxnSpPr/>
          <p:nvPr/>
        </p:nvCxnSpPr>
        <p:spPr>
          <a:xfrm xmlns:a="http://schemas.openxmlformats.org/drawingml/2006/main">
            <a:off x="1428750" y="3143250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EAF"/>
            </a:solidFill>
            <a:prstDash val="solid"/>
          </a:ln>
        </p:spPr>
      </p:cxnSp>
      <p:cxnSp>
        <p:nvCxnSpPr>
          <p:cNvPr id="36" name="s9-l2"/>
          <p:cNvCxnSpPr/>
          <p:nvPr/>
        </p:nvCxnSpPr>
        <p:spPr>
          <a:xfrm xmlns:a="http://schemas.openxmlformats.org/drawingml/2006/main">
            <a:off x="3905250" y="3143250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EAF"/>
            </a:solidFill>
            <a:prstDash val="solid"/>
          </a:ln>
        </p:spPr>
      </p:cxnSp>
      <p:sp>
        <p:nvSpPr>
          <p:cNvPr id="8" name="s9-l-a">
            <a:extLst xmlns:a="http://schemas.openxmlformats.org/drawingml/2006/main">
              <a:ext uri="{FF2B5EF4-FFF2-40B4-BE49-F238E27FC236}">
                <a16:creationId xmlns:a16="http://schemas.microsoft.com/office/drawing/2014/main" id="{CE8B2E5C-0C37-4D33-A15B-07D305AB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028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9" name="s9-l-a-t">
            <a:extLst xmlns:a="http://schemas.openxmlformats.org/drawingml/2006/main">
              <a:ext uri="{FF2B5EF4-FFF2-40B4-BE49-F238E27FC236}">
                <a16:creationId xmlns:a16="http://schemas.microsoft.com/office/drawing/2014/main" id="{850CC9B3-A97B-419D-9B1A-9961616D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6EAF"/>
                </a:solidFill>
                <a:latin typeface="Menlo"/>
                <a:ea typeface="Menlo"/>
                <a:cs typeface="Menlo"/>
              </a:defRPr>
            </a:pPr>
            <a:r>
              <a:t>hash</a:t>
            </a:r>
          </a:p>
        </p:txBody>
      </p:sp>
      <p:sp>
        <p:nvSpPr>
          <p:cNvPr id="10" name="s9-l-b">
            <a:extLst xmlns:a="http://schemas.openxmlformats.org/drawingml/2006/main">
              <a:ext uri="{FF2B5EF4-FFF2-40B4-BE49-F238E27FC236}">
                <a16:creationId xmlns:a16="http://schemas.microsoft.com/office/drawing/2014/main" id="{F35F9253-37FA-4F84-93A6-A73202A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1" name="s9-l-b-t">
            <a:extLst xmlns:a="http://schemas.openxmlformats.org/drawingml/2006/main">
              <a:ext uri="{FF2B5EF4-FFF2-40B4-BE49-F238E27FC236}">
                <a16:creationId xmlns:a16="http://schemas.microsoft.com/office/drawing/2014/main" id="{C8BEF4D0-9277-49C9-89AA-977D365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08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bucket
offset</a:t>
            </a:r>
          </a:p>
        </p:txBody>
      </p:sp>
      <p:sp>
        <p:nvSpPr>
          <p:cNvPr id="12" name="s9-l-c">
            <a:extLst xmlns:a="http://schemas.openxmlformats.org/drawingml/2006/main">
              <a:ext uri="{FF2B5EF4-FFF2-40B4-BE49-F238E27FC236}">
                <a16:creationId xmlns:a16="http://schemas.microsoft.com/office/drawing/2014/main" id="{B52404FF-4F92-4407-B229-62F1BC2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971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3" name="s9-l-c-t">
            <a:extLst xmlns:a="http://schemas.openxmlformats.org/drawingml/2006/main">
              <a:ext uri="{FF2B5EF4-FFF2-40B4-BE49-F238E27FC236}">
                <a16:creationId xmlns:a16="http://schemas.microsoft.com/office/drawing/2014/main" id="{6DB3FE7F-D468-4A52-86FC-E8EB498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57500"/>
            <a:ext cx="70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record
payload</a:t>
            </a:r>
          </a:p>
        </p:txBody>
      </p:sp>
      <p:sp>
        <p:nvSpPr>
          <p:cNvPr id="14" name="s9-l-note">
            <a:extLst xmlns:a="http://schemas.openxmlformats.org/drawingml/2006/main">
              <a:ext uri="{FF2B5EF4-FFF2-40B4-BE49-F238E27FC236}">
                <a16:creationId xmlns:a16="http://schemas.microsoft.com/office/drawing/2014/main" id="{FB064D97-C2AB-479B-81C3-DE93E473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143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读取 header 与保存的 column/key 验证命中；
随后拷贝目标 value 到调用者 buffer。</a:t>
            </a:r>
          </a:p>
        </p:txBody>
      </p:sp>
      <p:cxnSp>
        <p:nvCxnSpPr>
          <p:cNvPr id="44" name="s9-r1"/>
          <p:cNvCxnSpPr/>
          <p:nvPr/>
        </p:nvCxnSpPr>
        <p:spPr>
          <a:xfrm xmlns:a="http://schemas.openxmlformats.org/drawingml/2006/main">
            <a:off x="7524750" y="3143250"/>
            <a:ext cx="819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cxnSp>
        <p:nvCxnSpPr>
          <p:cNvPr id="45" name="s9-r2"/>
          <p:cNvCxnSpPr/>
          <p:nvPr/>
        </p:nvCxnSpPr>
        <p:spPr>
          <a:xfrm xmlns:a="http://schemas.openxmlformats.org/drawingml/2006/main">
            <a:off x="9944100" y="3143250"/>
            <a:ext cx="819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6B2B"/>
            </a:solidFill>
            <a:prstDash val="solid"/>
          </a:ln>
        </p:spPr>
      </p:cxnSp>
      <p:sp>
        <p:nvSpPr>
          <p:cNvPr id="17" name="s9-r-a">
            <a:extLst xmlns:a="http://schemas.openxmlformats.org/drawingml/2006/main">
              <a:ext uri="{FF2B5EF4-FFF2-40B4-BE49-F238E27FC236}">
                <a16:creationId xmlns:a16="http://schemas.microsoft.com/office/drawing/2014/main" id="{507DD4E5-E9F6-4593-B477-BE3852E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114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18" name="s9-r-a-t">
            <a:extLst xmlns:a="http://schemas.openxmlformats.org/drawingml/2006/main">
              <a:ext uri="{FF2B5EF4-FFF2-40B4-BE49-F238E27FC236}">
                <a16:creationId xmlns:a16="http://schemas.microsoft.com/office/drawing/2014/main" id="{999AC0F3-A0AD-4574-AFBA-F81E6AE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838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6B2B"/>
                </a:solidFill>
                <a:latin typeface="Menlo"/>
                <a:ea typeface="Menlo"/>
                <a:cs typeface="Menlo"/>
              </a:defRPr>
            </a:pPr>
            <a:r>
              <a:t>row
index</a:t>
            </a:r>
          </a:p>
        </p:txBody>
      </p:sp>
      <p:sp>
        <p:nvSpPr>
          <p:cNvPr id="19" name="s9-r-b">
            <a:extLst xmlns:a="http://schemas.openxmlformats.org/drawingml/2006/main">
              <a:ext uri="{FF2B5EF4-FFF2-40B4-BE49-F238E27FC236}">
                <a16:creationId xmlns:a16="http://schemas.microsoft.com/office/drawing/2014/main" id="{CF7ACA90-CF99-425C-A594-55E3986E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0" name="s9-r-b-t">
            <a:extLst xmlns:a="http://schemas.openxmlformats.org/drawingml/2006/main">
              <a:ext uri="{FF2B5EF4-FFF2-40B4-BE49-F238E27FC236}">
                <a16:creationId xmlns:a16="http://schemas.microsoft.com/office/drawing/2014/main" id="{9EBF63AF-51E9-4CD1-919F-E041A4B1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133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row header +
key bucket</a:t>
            </a:r>
          </a:p>
        </p:txBody>
      </p:sp>
      <p:sp>
        <p:nvSpPr>
          <p:cNvPr id="21" name="s9-r-c">
            <a:extLst xmlns:a="http://schemas.openxmlformats.org/drawingml/2006/main">
              <a:ext uri="{FF2B5EF4-FFF2-40B4-BE49-F238E27FC236}">
                <a16:creationId xmlns:a16="http://schemas.microsoft.com/office/drawing/2014/main" id="{2D19DF63-C047-44D5-A145-6A7FDEC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05100"/>
            <a:ext cx="91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22" name="s9-r-c-t">
            <a:extLst xmlns:a="http://schemas.openxmlformats.org/drawingml/2006/main">
              <a:ext uri="{FF2B5EF4-FFF2-40B4-BE49-F238E27FC236}">
                <a16:creationId xmlns:a16="http://schemas.microsoft.com/office/drawing/2014/main" id="{FDE8FC97-B9D6-43D2-BB0D-E8C5205F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0"/>
            <a:ext cx="723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key +
value</a:t>
            </a:r>
          </a:p>
        </p:txBody>
      </p:sp>
      <p:sp>
        <p:nvSpPr>
          <p:cNvPr id="23" name="s9-r-note">
            <a:extLst xmlns:a="http://schemas.openxmlformats.org/drawingml/2006/main">
              <a:ext uri="{FF2B5EF4-FFF2-40B4-BE49-F238E27FC236}">
                <a16:creationId xmlns:a16="http://schemas.microsoft.com/office/drawing/2014/main" id="{B71C4AA6-D724-48A4-9AEA-3CA484E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95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不回读整个 row block；按探测需要读取 header、
局部 bucket、候选 key 与匹配 value。</a:t>
            </a:r>
          </a:p>
        </p:txBody>
      </p:sp>
      <p:sp>
        <p:nvSpPr>
          <p:cNvPr id="24" name="s9-ro">
            <a:extLst xmlns:a="http://schemas.openxmlformats.org/drawingml/2006/main">
              <a:ext uri="{FF2B5EF4-FFF2-40B4-BE49-F238E27FC236}">
                <a16:creationId xmlns:a16="http://schemas.microsoft.com/office/drawing/2014/main" id="{28FB7736-8AA0-4778-B685-3C5223BD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010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5" name="s9-ro-title">
            <a:extLst xmlns:a="http://schemas.openxmlformats.org/drawingml/2006/main">
              <a:ext uri="{FF2B5EF4-FFF2-40B4-BE49-F238E27FC236}">
                <a16:creationId xmlns:a16="http://schemas.microsoft.com/office/drawing/2014/main" id="{970083E8-4613-4070-862A-89C0445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OpenReadOnly 完成后的读阶段</a:t>
            </a:r>
          </a:p>
        </p:txBody>
      </p:sp>
      <p:sp>
        <p:nvSpPr>
          <p:cNvPr id="26" name="s9-ro-body">
            <a:extLst xmlns:a="http://schemas.openxmlformats.org/drawingml/2006/main">
              <a:ext uri="{FF2B5EF4-FFF2-40B4-BE49-F238E27FC236}">
                <a16:creationId xmlns:a16="http://schemas.microsoft.com/office/drawing/2014/main" id="{675161A5-CE7C-479C-A818-34C4400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22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object index、row index 与 value files 都映射为只读；读路径本身可并行，写 API 会返回 InvalidArgument。</a:t>
            </a:r>
          </a:p>
        </p:txBody>
      </p:sp>
      <p:cxnSp>
        <p:nvCxnSpPr>
          <p:cNvPr id="56" name="footer-rule-9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8" name="footer-name-9">
            <a:extLst xmlns:a="http://schemas.openxmlformats.org/drawingml/2006/main">
              <a:ext uri="{FF2B5EF4-FFF2-40B4-BE49-F238E27FC236}">
                <a16:creationId xmlns:a16="http://schemas.microsoft.com/office/drawing/2014/main" id="{0066193B-3ECC-4716-9490-A119575A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9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D892EE38-C505-41E8-BD18-BC3E2DD3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033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776A60EA-7A98-410D-B656-D6281DD0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7C83B97E-825F-4F08-B422-717FCAF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mmap：把文件字节映射为可按地址读取的内存</a:t>
            </a:r>
          </a:p>
        </p:txBody>
      </p:sp>
      <p:sp>
        <p:nvSpPr>
          <p:cNvPr id="3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46F388C0-578A-4B92-B702-099949B4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它不是把整个文件预先复制到 RAM；真正的物理页会在首次访问时按需装入，并由操作系统页缓存管理。</a:t>
            </a:r>
          </a:p>
        </p:txBody>
      </p:sp>
      <p:cxnSp>
        <p:nvCxnSpPr>
          <p:cNvPr id="33" name="s10m-map-1"/>
          <p:cNvCxnSpPr/>
          <p:nvPr/>
        </p:nvCxnSpPr>
        <p:spPr>
          <a:xfrm xmlns:a="http://schemas.openxmlformats.org/drawingml/2006/main">
            <a:off x="2647950" y="2914650"/>
            <a:ext cx="876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EAF"/>
            </a:solidFill>
            <a:prstDash val="solid"/>
          </a:ln>
        </p:spPr>
      </p:cxnSp>
      <p:cxnSp>
        <p:nvCxnSpPr>
          <p:cNvPr id="34" name="s10m-map-2"/>
          <p:cNvCxnSpPr/>
          <p:nvPr/>
        </p:nvCxnSpPr>
        <p:spPr>
          <a:xfrm xmlns:a="http://schemas.openxmlformats.org/drawingml/2006/main">
            <a:off x="5981700" y="2914650"/>
            <a:ext cx="876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C7C7B"/>
            </a:solidFill>
            <a:prstDash val="solid"/>
          </a:ln>
        </p:spPr>
      </p:cxnSp>
      <p:cxnSp>
        <p:nvCxnSpPr>
          <p:cNvPr id="35" name="s10m-map-3"/>
          <p:cNvCxnSpPr/>
          <p:nvPr/>
        </p:nvCxnSpPr>
        <p:spPr>
          <a:xfrm xmlns:a="http://schemas.openxmlformats.org/drawingml/2006/main">
            <a:off x="9163050" y="2914650"/>
            <a:ext cx="876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C7A55"/>
            </a:solidFill>
            <a:prstDash val="solid"/>
          </a:ln>
        </p:spPr>
      </p:cxnSp>
      <p:sp>
        <p:nvSpPr>
          <p:cNvPr id="7" name="s10m-file">
            <a:extLst xmlns:a="http://schemas.openxmlformats.org/drawingml/2006/main">
              <a:ext uri="{FF2B5EF4-FFF2-40B4-BE49-F238E27FC236}">
                <a16:creationId xmlns:a16="http://schemas.microsoft.com/office/drawing/2014/main" id="{CB0E2290-91E8-4FE9-A904-AB585974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8" name="s10m-file-t">
            <a:extLst xmlns:a="http://schemas.openxmlformats.org/drawingml/2006/main">
              <a:ext uri="{FF2B5EF4-FFF2-40B4-BE49-F238E27FC236}">
                <a16:creationId xmlns:a16="http://schemas.microsoft.com/office/drawing/2014/main" id="{02D44562-D533-43F9-8AB0-3C68CB1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EAF"/>
                </a:solidFill>
                <a:latin typeface="Menlo"/>
                <a:ea typeface="Menlo"/>
                <a:cs typeface="Menlo"/>
              </a:defRPr>
            </a:pPr>
            <a:r>
              <a:t>index / value file</a:t>
            </a:r>
          </a:p>
        </p:txBody>
      </p:sp>
      <p:sp>
        <p:nvSpPr>
          <p:cNvPr id="9" name="s10m-file-b">
            <a:extLst xmlns:a="http://schemas.openxmlformats.org/drawingml/2006/main">
              <a:ext uri="{FF2B5EF4-FFF2-40B4-BE49-F238E27FC236}">
                <a16:creationId xmlns:a16="http://schemas.microsoft.com/office/drawing/2014/main" id="{346CE3BE-1104-4E52-9379-D83CC278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磁盘上的连续字节</a:t>
            </a:r>
          </a:p>
        </p:txBody>
      </p:sp>
      <p:sp>
        <p:nvSpPr>
          <p:cNvPr id="10" name="s10m-call">
            <a:extLst xmlns:a="http://schemas.openxmlformats.org/drawingml/2006/main">
              <a:ext uri="{FF2B5EF4-FFF2-40B4-BE49-F238E27FC236}">
                <a16:creationId xmlns:a16="http://schemas.microsoft.com/office/drawing/2014/main" id="{6539ABDF-8E27-4A40-B7B6-69F33972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457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1" name="s10m-call-t">
            <a:extLst xmlns:a="http://schemas.openxmlformats.org/drawingml/2006/main">
              <a:ext uri="{FF2B5EF4-FFF2-40B4-BE49-F238E27FC236}">
                <a16:creationId xmlns:a16="http://schemas.microsoft.com/office/drawing/2014/main" id="{F4F2A04D-75A9-4DFF-8D52-9BCF1D5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mmap(fd, PROT_READ)</a:t>
            </a:r>
          </a:p>
        </p:txBody>
      </p:sp>
      <p:sp>
        <p:nvSpPr>
          <p:cNvPr id="12" name="s10m-call-b">
            <a:extLst xmlns:a="http://schemas.openxmlformats.org/drawingml/2006/main">
              <a:ext uri="{FF2B5EF4-FFF2-40B4-BE49-F238E27FC236}">
                <a16:creationId xmlns:a16="http://schemas.microsoft.com/office/drawing/2014/main" id="{1598D84D-7F2B-45F1-9D05-E8E0339E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2038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建立虚拟地址区间</a:t>
            </a:r>
          </a:p>
        </p:txBody>
      </p:sp>
      <p:sp>
        <p:nvSpPr>
          <p:cNvPr id="13" name="s10m-vaddr">
            <a:extLst xmlns:a="http://schemas.openxmlformats.org/drawingml/2006/main">
              <a:ext uri="{FF2B5EF4-FFF2-40B4-BE49-F238E27FC236}">
                <a16:creationId xmlns:a16="http://schemas.microsoft.com/office/drawing/2014/main" id="{7D61874E-BB6B-465A-88EA-1257751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2305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14" name="s10m-vaddr-t">
            <a:extLst xmlns:a="http://schemas.openxmlformats.org/drawingml/2006/main">
              <a:ext uri="{FF2B5EF4-FFF2-40B4-BE49-F238E27FC236}">
                <a16:creationId xmlns:a16="http://schemas.microsoft.com/office/drawing/2014/main" id="{A7223946-68A7-4572-87E4-5B2FA49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1962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B"/>
                </a:solidFill>
                <a:latin typeface="Menlo"/>
                <a:ea typeface="Menlo"/>
                <a:cs typeface="Menlo"/>
              </a:defRPr>
            </a:pPr>
            <a:r>
              <a:t>virtual address</a:t>
            </a:r>
          </a:p>
        </p:txBody>
      </p:sp>
      <p:sp>
        <p:nvSpPr>
          <p:cNvPr id="15" name="s10m-vaddr-b">
            <a:extLst xmlns:a="http://schemas.openxmlformats.org/drawingml/2006/main">
              <a:ext uri="{FF2B5EF4-FFF2-40B4-BE49-F238E27FC236}">
                <a16:creationId xmlns:a16="http://schemas.microsoft.com/office/drawing/2014/main" id="{0230653D-3F8C-4EA7-8583-A124A98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225"/>
                </a:solidFill>
                <a:latin typeface="Menlo"/>
                <a:ea typeface="Menlo"/>
                <a:cs typeface="Menlo"/>
              </a:defRPr>
            </a:pPr>
            <a:r>
              <a:t>base + recordOffset
base + bucketOffset</a:t>
            </a:r>
          </a:p>
        </p:txBody>
      </p:sp>
      <p:sp>
        <p:nvSpPr>
          <p:cNvPr id="16" name="s10m-load">
            <a:extLst xmlns:a="http://schemas.openxmlformats.org/drawingml/2006/main">
              <a:ext uri="{FF2B5EF4-FFF2-40B4-BE49-F238E27FC236}">
                <a16:creationId xmlns:a16="http://schemas.microsoft.com/office/drawing/2014/main" id="{B919B018-477E-452E-B9B0-721E7EB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19350"/>
            <a:ext cx="137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17" name="s10m-load-t">
            <a:extLst xmlns:a="http://schemas.openxmlformats.org/drawingml/2006/main">
              <a:ext uri="{FF2B5EF4-FFF2-40B4-BE49-F238E27FC236}">
                <a16:creationId xmlns:a16="http://schemas.microsoft.com/office/drawing/2014/main" id="{302BAF6C-14DA-4D46-931F-76E0A2B6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4795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7A55"/>
                </a:solidFill>
                <a:latin typeface="Menlo"/>
                <a:ea typeface="Menlo"/>
                <a:cs typeface="Menlo"/>
              </a:defRPr>
            </a:pPr>
            <a:r>
              <a:t>CPU load</a:t>
            </a:r>
          </a:p>
        </p:txBody>
      </p:sp>
      <p:sp>
        <p:nvSpPr>
          <p:cNvPr id="18" name="s10m-load-b">
            <a:extLst xmlns:a="http://schemas.openxmlformats.org/drawingml/2006/main">
              <a:ext uri="{FF2B5EF4-FFF2-40B4-BE49-F238E27FC236}">
                <a16:creationId xmlns:a16="http://schemas.microsoft.com/office/drawing/2014/main" id="{00864372-BF34-4781-8534-76F3CAF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90850"/>
            <a:ext cx="110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normal read</a:t>
            </a:r>
          </a:p>
        </p:txBody>
      </p:sp>
      <p:sp>
        <p:nvSpPr>
          <p:cNvPr id="19" name="s10m-hot">
            <a:extLst xmlns:a="http://schemas.openxmlformats.org/drawingml/2006/main">
              <a:ext uri="{FF2B5EF4-FFF2-40B4-BE49-F238E27FC236}">
                <a16:creationId xmlns:a16="http://schemas.microsoft.com/office/drawing/2014/main" id="{2AC0274D-2DCF-4212-94E6-EBFC192D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124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C7A55"/>
            </a:solidFill>
            <a:prstDash val="solid"/>
          </a:ln>
        </p:spPr>
      </p:sp>
      <p:sp>
        <p:nvSpPr>
          <p:cNvPr id="20" name="s10m-hot-t">
            <a:extLst xmlns:a="http://schemas.openxmlformats.org/drawingml/2006/main">
              <a:ext uri="{FF2B5EF4-FFF2-40B4-BE49-F238E27FC236}">
                <a16:creationId xmlns:a16="http://schemas.microsoft.com/office/drawing/2014/main" id="{E9547A70-4247-49A9-B502-D427B973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A55"/>
                </a:solidFill>
                <a:latin typeface="PingFang SC"/>
                <a:ea typeface="PingFang SC"/>
                <a:cs typeface="PingFang SC"/>
              </a:defRPr>
            </a:pPr>
            <a:r>
              <a:t>命中已驻留页：热路径</a:t>
            </a:r>
          </a:p>
        </p:txBody>
      </p:sp>
      <p:sp>
        <p:nvSpPr>
          <p:cNvPr id="21" name="s10m-hot-b">
            <a:extLst xmlns:a="http://schemas.openxmlformats.org/drawingml/2006/main">
              <a:ext uri="{FF2B5EF4-FFF2-40B4-BE49-F238E27FC236}">
                <a16:creationId xmlns:a16="http://schemas.microsoft.com/office/drawing/2014/main" id="{C5B23214-8101-499F-9E97-3D592E0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445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页表把虚拟页映射到已缓存的物理页；
用户态按 offset 解引用，不需要每次 read() 系统调用。</a:t>
            </a:r>
          </a:p>
        </p:txBody>
      </p:sp>
      <p:sp>
        <p:nvSpPr>
          <p:cNvPr id="22" name="s10m-cold">
            <a:extLst xmlns:a="http://schemas.openxmlformats.org/drawingml/2006/main">
              <a:ext uri="{FF2B5EF4-FFF2-40B4-BE49-F238E27FC236}">
                <a16:creationId xmlns:a16="http://schemas.microsoft.com/office/drawing/2014/main" id="{2EBA8E2E-8EA8-473E-BF2C-FA38D4CF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124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9525">
            <a:solidFill>
              <a:srgbClr val="D66B2B"/>
            </a:solidFill>
            <a:prstDash val="solid"/>
          </a:ln>
        </p:spPr>
      </p:sp>
      <p:sp>
        <p:nvSpPr>
          <p:cNvPr id="23" name="s10m-cold-t">
            <a:extLst xmlns:a="http://schemas.openxmlformats.org/drawingml/2006/main">
              <a:ext uri="{FF2B5EF4-FFF2-40B4-BE49-F238E27FC236}">
                <a16:creationId xmlns:a16="http://schemas.microsoft.com/office/drawing/2014/main" id="{8E55C510-E26A-4602-B263-E926275B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首次访问缺页：冷路径</a:t>
            </a:r>
          </a:p>
        </p:txBody>
      </p:sp>
      <p:sp>
        <p:nvSpPr>
          <p:cNvPr id="24" name="s10m-cold-b">
            <a:extLst xmlns:a="http://schemas.openxmlformats.org/drawingml/2006/main">
              <a:ext uri="{FF2B5EF4-FFF2-40B4-BE49-F238E27FC236}">
                <a16:creationId xmlns:a16="http://schemas.microsoft.com/office/drawing/2014/main" id="{B507CC56-20FC-440A-86CC-C892B1C0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19650"/>
            <a:ext cx="445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内核处理 page fault，从页缓存或存储装入页；
冷随机读的主要成本仍是底层存储 latency。</a:t>
            </a:r>
          </a:p>
        </p:txBody>
      </p:sp>
      <p:sp>
        <p:nvSpPr>
          <p:cNvPr id="25" name="s10m-lumodb">
            <a:extLst xmlns:a="http://schemas.openxmlformats.org/drawingml/2006/main">
              <a:ext uri="{FF2B5EF4-FFF2-40B4-BE49-F238E27FC236}">
                <a16:creationId xmlns:a16="http://schemas.microsoft.com/office/drawing/2014/main" id="{39659BA4-4A03-4F94-80BF-E1340B6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01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EE"/>
          </a:solidFill>
          <a:ln xmlns:a="http://schemas.openxmlformats.org/drawingml/2006/main" w="9525">
            <a:solidFill>
              <a:srgbClr val="0C7C7B"/>
            </a:solidFill>
            <a:prstDash val="solid"/>
          </a:ln>
        </p:spPr>
      </p:sp>
      <p:sp>
        <p:nvSpPr>
          <p:cNvPr id="26" name="s10m-lumodb-t">
            <a:extLst xmlns:a="http://schemas.openxmlformats.org/drawingml/2006/main">
              <a:ext uri="{FF2B5EF4-FFF2-40B4-BE49-F238E27FC236}">
                <a16:creationId xmlns:a16="http://schemas.microsoft.com/office/drawing/2014/main" id="{B74D291B-0C00-4FE1-8EC5-B0256EDD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534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LumoDB：OpenReadOnly 映射 object / row indexes 与 value files；Get* 通过 offset 定位后，仍把匹配 payload 拷贝到调用者 vector。</a:t>
            </a:r>
          </a:p>
        </p:txBody>
      </p:sp>
      <p:cxnSp>
        <p:nvCxnSpPr>
          <p:cNvPr id="56" name="footer-rule-10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8" name="footer-name-10">
            <a:extLst xmlns:a="http://schemas.openxmlformats.org/drawingml/2006/main">
              <a:ext uri="{FF2B5EF4-FFF2-40B4-BE49-F238E27FC236}">
                <a16:creationId xmlns:a16="http://schemas.microsoft.com/office/drawing/2014/main" id="{B1A82BC7-21AA-42A1-AF6C-E61ED611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9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B540AA80-868C-4AF3-A5C8-4F977FD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9280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11">
            <a:extLst xmlns:a="http://schemas.openxmlformats.org/drawingml/2006/main">
              <a:ext uri="{FF2B5EF4-FFF2-40B4-BE49-F238E27FC236}">
                <a16:creationId xmlns:a16="http://schemas.microsoft.com/office/drawing/2014/main" id="{708324D3-08F8-434B-9A07-F8CEB99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DA8E3D1A-8599-4897-999B-BF6A644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RocksDB 与 LumoDB 的性能优势来自不同工作负载</a:t>
            </a:r>
          </a:p>
        </p:txBody>
      </p:sp>
      <p:sp>
        <p:nvSpPr>
          <p:cNvPr id="3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055EF9F4-B40C-4830-9A52-15FDBFD4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下面是架构预期，不是基准结果。任何“更快”结论都要在相同硬件、payload、durability 与缓存状态下实测。</a:t>
            </a:r>
          </a:p>
        </p:txBody>
      </p:sp>
      <p:sp>
        <p:nvSpPr>
          <p:cNvPr id="4" name="s11h-workload">
            <a:extLst xmlns:a="http://schemas.openxmlformats.org/drawingml/2006/main">
              <a:ext uri="{FF2B5EF4-FFF2-40B4-BE49-F238E27FC236}">
                <a16:creationId xmlns:a16="http://schemas.microsoft.com/office/drawing/2014/main" id="{A454D7BD-D1B4-4E8D-8286-EDF18BA5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25"/>
          </a:solidFill>
          <a:ln xmlns:a="http://schemas.openxmlformats.org/drawingml/2006/main" w="0">
            <a:solidFill>
              <a:srgbClr val="172225"/>
            </a:solidFill>
            <a:prstDash val="solid"/>
          </a:ln>
        </p:spPr>
      </p:sp>
      <p:sp>
        <p:nvSpPr>
          <p:cNvPr id="5" name="s11h-lumo">
            <a:extLst xmlns:a="http://schemas.openxmlformats.org/drawingml/2006/main">
              <a:ext uri="{FF2B5EF4-FFF2-40B4-BE49-F238E27FC236}">
                <a16:creationId xmlns:a16="http://schemas.microsoft.com/office/drawing/2014/main" id="{F477E87B-32D1-42A8-8F5C-D5D8B081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3552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6" name="s11h-rocks">
            <a:extLst xmlns:a="http://schemas.openxmlformats.org/drawingml/2006/main">
              <a:ext uri="{FF2B5EF4-FFF2-40B4-BE49-F238E27FC236}">
                <a16:creationId xmlns:a16="http://schemas.microsoft.com/office/drawing/2014/main" id="{377777A2-DBEC-46EA-B1D7-ED06817F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24050"/>
            <a:ext cx="3552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7" name="s11h-choice">
            <a:extLst xmlns:a="http://schemas.openxmlformats.org/drawingml/2006/main">
              <a:ext uri="{FF2B5EF4-FFF2-40B4-BE49-F238E27FC236}">
                <a16:creationId xmlns:a16="http://schemas.microsoft.com/office/drawing/2014/main" id="{9B35C3AD-1B48-43F9-B772-F906E845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2405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25"/>
          </a:solidFill>
          <a:ln xmlns:a="http://schemas.openxmlformats.org/drawingml/2006/main" w="0">
            <a:solidFill>
              <a:srgbClr val="172225"/>
            </a:solidFill>
            <a:prstDash val="solid"/>
          </a:ln>
        </p:spPr>
      </p:sp>
      <p:sp>
        <p:nvSpPr>
          <p:cNvPr id="8" name="s11h-workload-t">
            <a:extLst xmlns:a="http://schemas.openxmlformats.org/drawingml/2006/main">
              <a:ext uri="{FF2B5EF4-FFF2-40B4-BE49-F238E27FC236}">
                <a16:creationId xmlns:a16="http://schemas.microsoft.com/office/drawing/2014/main" id="{A230CD11-1B49-4E3A-8C53-C5354274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343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工作负载规格</a:t>
            </a:r>
          </a:p>
        </p:txBody>
      </p:sp>
      <p:sp>
        <p:nvSpPr>
          <p:cNvPr id="9" name="s11h-lumo-t">
            <a:extLst xmlns:a="http://schemas.openxmlformats.org/drawingml/2006/main">
              <a:ext uri="{FF2B5EF4-FFF2-40B4-BE49-F238E27FC236}">
                <a16:creationId xmlns:a16="http://schemas.microsoft.com/office/drawing/2014/main" id="{40D30E2E-95DD-46A3-9A7A-B8FA5DFE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57400"/>
            <a:ext cx="32861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LumoDB：架构预期</a:t>
            </a:r>
          </a:p>
        </p:txBody>
      </p:sp>
      <p:sp>
        <p:nvSpPr>
          <p:cNvPr id="10" name="s11h-rocks-t">
            <a:extLst xmlns:a="http://schemas.openxmlformats.org/drawingml/2006/main">
              <a:ext uri="{FF2B5EF4-FFF2-40B4-BE49-F238E27FC236}">
                <a16:creationId xmlns:a16="http://schemas.microsoft.com/office/drawing/2014/main" id="{9DF03575-17F3-4E65-B9CF-4A8AB221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57400"/>
            <a:ext cx="32861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RocksDB：架构预期</a:t>
            </a:r>
          </a:p>
        </p:txBody>
      </p:sp>
      <p:sp>
        <p:nvSpPr>
          <p:cNvPr id="11" name="s11h-choice-t">
            <a:extLst xmlns:a="http://schemas.openxmlformats.org/drawingml/2006/main">
              <a:ext uri="{FF2B5EF4-FFF2-40B4-BE49-F238E27FC236}">
                <a16:creationId xmlns:a16="http://schemas.microsoft.com/office/drawing/2014/main" id="{03D025D0-6282-4026-BB5E-F9590504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57400"/>
            <a:ext cx="110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倾向</a:t>
            </a:r>
          </a:p>
        </p:txBody>
      </p:sp>
      <p:sp>
        <p:nvSpPr>
          <p:cNvPr id="12" name="s11r0-workload">
            <a:extLst xmlns:a="http://schemas.openxmlformats.org/drawingml/2006/main">
              <a:ext uri="{FF2B5EF4-FFF2-40B4-BE49-F238E27FC236}">
                <a16:creationId xmlns:a16="http://schemas.microsoft.com/office/drawing/2014/main" id="{88C574BC-D6FA-4162-B9AE-959613EA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3" name="s11r0-lumo">
            <a:extLst xmlns:a="http://schemas.openxmlformats.org/drawingml/2006/main">
              <a:ext uri="{FF2B5EF4-FFF2-40B4-BE49-F238E27FC236}">
                <a16:creationId xmlns:a16="http://schemas.microsoft.com/office/drawing/2014/main" id="{AA774987-2DCB-4E07-A632-70235B9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4" name="s11r0-rocks">
            <a:extLst xmlns:a="http://schemas.openxmlformats.org/drawingml/2006/main">
              <a:ext uri="{FF2B5EF4-FFF2-40B4-BE49-F238E27FC236}">
                <a16:creationId xmlns:a16="http://schemas.microsoft.com/office/drawing/2014/main" id="{B9F5F422-D08D-4C10-9538-D9C51063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5" name="s11r0-choice">
            <a:extLst xmlns:a="http://schemas.openxmlformats.org/drawingml/2006/main">
              <a:ext uri="{FF2B5EF4-FFF2-40B4-BE49-F238E27FC236}">
                <a16:creationId xmlns:a16="http://schemas.microsoft.com/office/drawing/2014/main" id="{CFFCAE6E-760D-44AD-A62A-5096ADE1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16" name="s11r0-workload-t">
            <a:extLst xmlns:a="http://schemas.openxmlformats.org/drawingml/2006/main">
              <a:ext uri="{FF2B5EF4-FFF2-40B4-BE49-F238E27FC236}">
                <a16:creationId xmlns:a16="http://schemas.microsoft.com/office/drawing/2014/main" id="{7062BE22-FD78-445F-A057-517BA8C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2266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高频覆盖 / 删除
范围或前缀遍历</a:t>
            </a:r>
          </a:p>
        </p:txBody>
      </p:sp>
      <p:sp>
        <p:nvSpPr>
          <p:cNvPr id="17" name="s11r0-lumo-t">
            <a:extLst xmlns:a="http://schemas.openxmlformats.org/drawingml/2006/main">
              <a:ext uri="{FF2B5EF4-FFF2-40B4-BE49-F238E27FC236}">
                <a16:creationId xmlns:a16="http://schemas.microsoft.com/office/drawing/2014/main" id="{436B1799-7014-45FD-90DE-9583129D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241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无 compaction 与 scan；
append 旧版本会积累</a:t>
            </a:r>
          </a:p>
        </p:txBody>
      </p:sp>
      <p:sp>
        <p:nvSpPr>
          <p:cNvPr id="18" name="s11r0-rocks-t">
            <a:extLst xmlns:a="http://schemas.openxmlformats.org/drawingml/2006/main">
              <a:ext uri="{FF2B5EF4-FFF2-40B4-BE49-F238E27FC236}">
                <a16:creationId xmlns:a16="http://schemas.microsoft.com/office/drawing/2014/main" id="{11E56A30-412A-4AB5-9705-EAB8EECE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LSM 写路径、compaction、iterator；
更符合在线可变数据</a:t>
            </a:r>
          </a:p>
        </p:txBody>
      </p:sp>
      <p:sp>
        <p:nvSpPr>
          <p:cNvPr id="19" name="s11r0-choice-t">
            <a:extLst xmlns:a="http://schemas.openxmlformats.org/drawingml/2006/main">
              <a:ext uri="{FF2B5EF4-FFF2-40B4-BE49-F238E27FC236}">
                <a16:creationId xmlns:a16="http://schemas.microsoft.com/office/drawing/2014/main" id="{149CAB75-4515-42F0-8E9D-8BE2E36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33650"/>
            <a:ext cx="1104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RocksDB
更适合</a:t>
            </a:r>
          </a:p>
        </p:txBody>
      </p:sp>
      <p:sp>
        <p:nvSpPr>
          <p:cNvPr id="20" name="s11r1-workload">
            <a:extLst xmlns:a="http://schemas.openxmlformats.org/drawingml/2006/main">
              <a:ext uri="{FF2B5EF4-FFF2-40B4-BE49-F238E27FC236}">
                <a16:creationId xmlns:a16="http://schemas.microsoft.com/office/drawing/2014/main" id="{0CC949AE-C201-46B7-81D6-B20A33A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1" name="s11r1-lumo">
            <a:extLst xmlns:a="http://schemas.openxmlformats.org/drawingml/2006/main">
              <a:ext uri="{FF2B5EF4-FFF2-40B4-BE49-F238E27FC236}">
                <a16:creationId xmlns:a16="http://schemas.microsoft.com/office/drawing/2014/main" id="{0C78D9E5-E056-43C2-A37C-1E9BBC9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2" name="s11r1-rocks">
            <a:extLst xmlns:a="http://schemas.openxmlformats.org/drawingml/2006/main">
              <a:ext uri="{FF2B5EF4-FFF2-40B4-BE49-F238E27FC236}">
                <a16:creationId xmlns:a16="http://schemas.microsoft.com/office/drawing/2014/main" id="{54CB8DB0-FBEC-40CD-AB29-FD78E3B0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3" name="s11r1-choice">
            <a:extLst xmlns:a="http://schemas.openxmlformats.org/drawingml/2006/main">
              <a:ext uri="{FF2B5EF4-FFF2-40B4-BE49-F238E27FC236}">
                <a16:creationId xmlns:a16="http://schemas.microsoft.com/office/drawing/2014/main" id="{FFC8528F-F285-4CFB-9909-94B4343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4" name="s11r1-workload-t">
            <a:extLst xmlns:a="http://schemas.openxmlformats.org/drawingml/2006/main">
              <a:ext uri="{FF2B5EF4-FFF2-40B4-BE49-F238E27FC236}">
                <a16:creationId xmlns:a16="http://schemas.microsoft.com/office/drawing/2014/main" id="{961AB091-85D4-4A41-9005-A666607D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266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一次写入的 unique key
构建完成后只读</a:t>
            </a:r>
          </a:p>
        </p:txBody>
      </p:sp>
      <p:sp>
        <p:nvSpPr>
          <p:cNvPr id="25" name="s11r1-lumo-t">
            <a:extLst xmlns:a="http://schemas.openxmlformats.org/drawingml/2006/main">
              <a:ext uri="{FF2B5EF4-FFF2-40B4-BE49-F238E27FC236}">
                <a16:creationId xmlns:a16="http://schemas.microsoft.com/office/drawing/2014/main" id="{87F24A74-7774-4148-9540-EC1EC1D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242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PutUnique + 顺序 append + 紧凑 index；
可能减少写放大</a:t>
            </a:r>
          </a:p>
        </p:txBody>
      </p:sp>
      <p:sp>
        <p:nvSpPr>
          <p:cNvPr id="26" name="s11r1-rocks-t">
            <a:extLst xmlns:a="http://schemas.openxmlformats.org/drawingml/2006/main">
              <a:ext uri="{FF2B5EF4-FFF2-40B4-BE49-F238E27FC236}">
                <a16:creationId xmlns:a16="http://schemas.microsoft.com/office/drawing/2014/main" id="{4DDDEFEB-101B-4503-9541-1BB72C1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242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可配置，但 WAL / memtable / SST
带来额外数据结构与路径</a:t>
            </a:r>
          </a:p>
        </p:txBody>
      </p:sp>
      <p:sp>
        <p:nvSpPr>
          <p:cNvPr id="27" name="s11r1-choice-t">
            <a:extLst xmlns:a="http://schemas.openxmlformats.org/drawingml/2006/main">
              <a:ext uri="{FF2B5EF4-FFF2-40B4-BE49-F238E27FC236}">
                <a16:creationId xmlns:a16="http://schemas.microsoft.com/office/drawing/2014/main" id="{29F292B7-6DE5-4B43-B60C-FC20BAC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1104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LumoDB
潜力</a:t>
            </a:r>
          </a:p>
        </p:txBody>
      </p:sp>
      <p:sp>
        <p:nvSpPr>
          <p:cNvPr id="28" name="s11r2-workload">
            <a:extLst xmlns:a="http://schemas.openxmlformats.org/drawingml/2006/main">
              <a:ext uri="{FF2B5EF4-FFF2-40B4-BE49-F238E27FC236}">
                <a16:creationId xmlns:a16="http://schemas.microsoft.com/office/drawing/2014/main" id="{C4FEFFFC-6A86-410F-8617-BB2121C7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29" name="s11r2-lumo">
            <a:extLst xmlns:a="http://schemas.openxmlformats.org/drawingml/2006/main">
              <a:ext uri="{FF2B5EF4-FFF2-40B4-BE49-F238E27FC236}">
                <a16:creationId xmlns:a16="http://schemas.microsoft.com/office/drawing/2014/main" id="{B8A7633C-539A-4492-848F-DF702148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30" name="s11r2-rocks">
            <a:extLst xmlns:a="http://schemas.openxmlformats.org/drawingml/2006/main">
              <a:ext uri="{FF2B5EF4-FFF2-40B4-BE49-F238E27FC236}">
                <a16:creationId xmlns:a16="http://schemas.microsoft.com/office/drawing/2014/main" id="{F6F2632D-4EDC-4C1C-A907-6F7AA42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814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31" name="s11r2-choice">
            <a:extLst xmlns:a="http://schemas.openxmlformats.org/drawingml/2006/main">
              <a:ext uri="{FF2B5EF4-FFF2-40B4-BE49-F238E27FC236}">
                <a16:creationId xmlns:a16="http://schemas.microsoft.com/office/drawing/2014/main" id="{1B03B4E9-314B-463C-8AEC-873A9374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814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32" name="s11r2-workload-t">
            <a:extLst xmlns:a="http://schemas.openxmlformats.org/drawingml/2006/main">
              <a:ext uri="{FF2B5EF4-FFF2-40B4-BE49-F238E27FC236}">
                <a16:creationId xmlns:a16="http://schemas.microsoft.com/office/drawing/2014/main" id="{C7316E56-462C-4DC6-809C-EB31A37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2266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大 value，已知
column / rowId / key</a:t>
            </a:r>
          </a:p>
        </p:txBody>
      </p:sp>
      <p:sp>
        <p:nvSpPr>
          <p:cNvPr id="33" name="s11r2-lumo-t">
            <a:extLst xmlns:a="http://schemas.openxmlformats.org/drawingml/2006/main">
              <a:ext uri="{FF2B5EF4-FFF2-40B4-BE49-F238E27FC236}">
                <a16:creationId xmlns:a16="http://schemas.microsoft.com/office/drawing/2014/main" id="{D9F8F9A8-B9AF-4E32-9763-8F0B7859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243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offset 定位；row 点查不读完整 block；
可少做无关读取</a:t>
            </a:r>
          </a:p>
        </p:txBody>
      </p:sp>
      <p:sp>
        <p:nvSpPr>
          <p:cNvPr id="34" name="s11r2-rocks-t">
            <a:extLst xmlns:a="http://schemas.openxmlformats.org/drawingml/2006/main">
              <a:ext uri="{FF2B5EF4-FFF2-40B4-BE49-F238E27FC236}">
                <a16:creationId xmlns:a16="http://schemas.microsoft.com/office/drawing/2014/main" id="{3C36C0FB-95BF-438D-B32C-06A624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243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block / filter / cache 行为决定；
需要相同 payload 实测</a:t>
            </a:r>
          </a:p>
        </p:txBody>
      </p:sp>
      <p:sp>
        <p:nvSpPr>
          <p:cNvPr id="35" name="s11r2-choice-t">
            <a:extLst xmlns:a="http://schemas.openxmlformats.org/drawingml/2006/main">
              <a:ext uri="{FF2B5EF4-FFF2-40B4-BE49-F238E27FC236}">
                <a16:creationId xmlns:a16="http://schemas.microsoft.com/office/drawing/2014/main" id="{A17A0AEF-BA2A-473B-A053-9A62274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33850"/>
            <a:ext cx="1104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必须
实测</a:t>
            </a:r>
          </a:p>
        </p:txBody>
      </p:sp>
      <p:sp>
        <p:nvSpPr>
          <p:cNvPr id="36" name="s11r3-workload">
            <a:extLst xmlns:a="http://schemas.openxmlformats.org/drawingml/2006/main">
              <a:ext uri="{FF2B5EF4-FFF2-40B4-BE49-F238E27FC236}">
                <a16:creationId xmlns:a16="http://schemas.microsoft.com/office/drawing/2014/main" id="{10DF69FF-1436-4307-BB2C-625C1092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37" name="s11r3-lumo">
            <a:extLst xmlns:a="http://schemas.openxmlformats.org/drawingml/2006/main">
              <a:ext uri="{FF2B5EF4-FFF2-40B4-BE49-F238E27FC236}">
                <a16:creationId xmlns:a16="http://schemas.microsoft.com/office/drawing/2014/main" id="{267D8FEA-B3A9-49C3-A0C0-B91B6B25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815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38" name="s11r3-rocks">
            <a:extLst xmlns:a="http://schemas.openxmlformats.org/drawingml/2006/main">
              <a:ext uri="{FF2B5EF4-FFF2-40B4-BE49-F238E27FC236}">
                <a16:creationId xmlns:a16="http://schemas.microsoft.com/office/drawing/2014/main" id="{71D38958-AC92-4F81-8982-B415BD8B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81550"/>
            <a:ext cx="3552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39" name="s11r3-choice">
            <a:extLst xmlns:a="http://schemas.openxmlformats.org/drawingml/2006/main">
              <a:ext uri="{FF2B5EF4-FFF2-40B4-BE49-F238E27FC236}">
                <a16:creationId xmlns:a16="http://schemas.microsoft.com/office/drawing/2014/main" id="{FAB68E7A-9760-4891-98CE-395E918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815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1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40" name="s11r3-workload-t">
            <a:extLst xmlns:a="http://schemas.openxmlformats.org/drawingml/2006/main">
              <a:ext uri="{FF2B5EF4-FFF2-40B4-BE49-F238E27FC236}">
                <a16:creationId xmlns:a16="http://schemas.microsoft.com/office/drawing/2014/main" id="{C37E7D2C-4986-47E1-B0B9-FC2E185D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2266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数据大于内存；
冷读与热读并存</a:t>
            </a:r>
          </a:p>
        </p:txBody>
      </p:sp>
      <p:sp>
        <p:nvSpPr>
          <p:cNvPr id="41" name="s11r3-lumo-t">
            <a:extLst xmlns:a="http://schemas.openxmlformats.org/drawingml/2006/main">
              <a:ext uri="{FF2B5EF4-FFF2-40B4-BE49-F238E27FC236}">
                <a16:creationId xmlns:a16="http://schemas.microsoft.com/office/drawing/2014/main" id="{1AF59134-6DEF-439D-9628-EF6DD37B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244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mmap 依赖 OS page cache；
冷读受存储 latency 主导</a:t>
            </a:r>
          </a:p>
        </p:txBody>
      </p:sp>
      <p:sp>
        <p:nvSpPr>
          <p:cNvPr id="42" name="s11r3-rocks-t">
            <a:extLst xmlns:a="http://schemas.openxmlformats.org/drawingml/2006/main">
              <a:ext uri="{FF2B5EF4-FFF2-40B4-BE49-F238E27FC236}">
                <a16:creationId xmlns:a16="http://schemas.microsoft.com/office/drawing/2014/main" id="{74057013-AF11-44CA-A34C-34A4BEBE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24425"/>
            <a:ext cx="3171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block cache 与 OS cache 协同；
配置空间更大</a:t>
            </a:r>
          </a:p>
        </p:txBody>
      </p:sp>
      <p:sp>
        <p:nvSpPr>
          <p:cNvPr id="43" name="s11r3-choice-t">
            <a:extLst xmlns:a="http://schemas.openxmlformats.org/drawingml/2006/main">
              <a:ext uri="{FF2B5EF4-FFF2-40B4-BE49-F238E27FC236}">
                <a16:creationId xmlns:a16="http://schemas.microsoft.com/office/drawing/2014/main" id="{0AB9C2DE-D819-4761-B708-066AEC7E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33950"/>
            <a:ext cx="1104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必须
实测</a:t>
            </a:r>
          </a:p>
        </p:txBody>
      </p:sp>
      <p:sp>
        <p:nvSpPr>
          <p:cNvPr id="44" name="s11-benchmark">
            <a:extLst xmlns:a="http://schemas.openxmlformats.org/drawingml/2006/main">
              <a:ext uri="{FF2B5EF4-FFF2-40B4-BE49-F238E27FC236}">
                <a16:creationId xmlns:a16="http://schemas.microsoft.com/office/drawing/2014/main" id="{4A532219-0716-4759-ADD2-F751CB49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1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45" name="s11-benchmark-t">
            <a:extLst xmlns:a="http://schemas.openxmlformats.org/drawingml/2006/main">
              <a:ext uri="{FF2B5EF4-FFF2-40B4-BE49-F238E27FC236}">
                <a16:creationId xmlns:a16="http://schemas.microsoft.com/office/drawing/2014/main" id="{80C75A6F-0091-48AA-B61C-EB229354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91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公平基准至少固定：key/value 分布、数据量、压缩开关、WAL/fsync、线程数、cache warm/cold、介质与随机读比例。</a:t>
            </a:r>
          </a:p>
        </p:txBody>
      </p:sp>
      <p:cxnSp>
        <p:nvCxnSpPr>
          <p:cNvPr id="94" name="footer-rule-11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47" name="footer-name-11">
            <a:extLst xmlns:a="http://schemas.openxmlformats.org/drawingml/2006/main">
              <a:ext uri="{FF2B5EF4-FFF2-40B4-BE49-F238E27FC236}">
                <a16:creationId xmlns:a16="http://schemas.microsoft.com/office/drawing/2014/main" id="{364590BD-B0E9-4A4B-B536-4586AE9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48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E4F9A662-9248-4FFB-911C-29013F37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5902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12">
            <a:extLst xmlns:a="http://schemas.openxmlformats.org/drawingml/2006/main">
              <a:ext uri="{FF2B5EF4-FFF2-40B4-BE49-F238E27FC236}">
                <a16:creationId xmlns:a16="http://schemas.microsoft.com/office/drawing/2014/main" id="{A165996E-EA87-4AC8-A180-D2B6599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5E43EF14-4CD7-433F-B2C6-8E1FC957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Close 是写入阶段与稳定只读阶段之间的边界</a:t>
            </a:r>
          </a:p>
        </p:txBody>
      </p:sp>
      <p:sp>
        <p:nvSpPr>
          <p:cNvPr id="3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9F840CB0-8774-4BCB-B2A1-78C9185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Flush / Close 的价值是把已写出的 value 和已发布的 index 同步到文件系统；完成后使用相同 options 只读重开。</a:t>
            </a:r>
          </a:p>
        </p:txBody>
      </p:sp>
      <p:cxnSp>
        <p:nvCxnSpPr>
          <p:cNvPr id="26" name="s10-path"/>
          <p:cNvCxnSpPr/>
          <p:nvPr/>
        </p:nvCxnSpPr>
        <p:spPr>
          <a:xfrm xmlns:a="http://schemas.openxmlformats.org/drawingml/2006/main">
            <a:off x="1695450" y="3333750"/>
            <a:ext cx="8496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DC"/>
            </a:solidFill>
            <a:prstDash val="solid"/>
          </a:ln>
        </p:spPr>
      </p:cxnSp>
      <p:sp>
        <p:nvSpPr>
          <p:cNvPr id="5" name="s10-d1">
            <a:extLst xmlns:a="http://schemas.openxmlformats.org/drawingml/2006/main">
              <a:ext uri="{FF2B5EF4-FFF2-40B4-BE49-F238E27FC236}">
                <a16:creationId xmlns:a16="http://schemas.microsoft.com/office/drawing/2014/main" id="{AE129404-4179-4A5A-99E3-D1DBE865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6" name="s10-d2">
            <a:extLst xmlns:a="http://schemas.openxmlformats.org/drawingml/2006/main">
              <a:ext uri="{FF2B5EF4-FFF2-40B4-BE49-F238E27FC236}">
                <a16:creationId xmlns:a16="http://schemas.microsoft.com/office/drawing/2014/main" id="{C5B068DD-2B0D-4AED-9249-DEC9299C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55"/>
          </a:solidFill>
          <a:ln xmlns:a="http://schemas.openxmlformats.org/drawingml/2006/main" w="0">
            <a:solidFill>
              <a:srgbClr val="2C7A55"/>
            </a:solidFill>
            <a:prstDash val="solid"/>
          </a:ln>
        </p:spPr>
      </p:sp>
      <p:sp>
        <p:nvSpPr>
          <p:cNvPr id="7" name="s10-d3">
            <a:extLst xmlns:a="http://schemas.openxmlformats.org/drawingml/2006/main">
              <a:ext uri="{FF2B5EF4-FFF2-40B4-BE49-F238E27FC236}">
                <a16:creationId xmlns:a16="http://schemas.microsoft.com/office/drawing/2014/main" id="{A04C523E-4F67-43F8-9B59-401D74D6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8" name="s10-d4">
            <a:extLst xmlns:a="http://schemas.openxmlformats.org/drawingml/2006/main">
              <a:ext uri="{FF2B5EF4-FFF2-40B4-BE49-F238E27FC236}">
                <a16:creationId xmlns:a16="http://schemas.microsoft.com/office/drawing/2014/main" id="{33A9B517-9829-4CF9-80CA-50AC51AA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F"/>
          </a:solidFill>
          <a:ln xmlns:a="http://schemas.openxmlformats.org/drawingml/2006/main" w="0">
            <a:solidFill>
              <a:srgbClr val="2D6EAF"/>
            </a:solidFill>
            <a:prstDash val="solid"/>
          </a:ln>
        </p:spPr>
      </p:sp>
      <p:sp>
        <p:nvSpPr>
          <p:cNvPr id="9" name="s10-a">
            <a:extLst xmlns:a="http://schemas.openxmlformats.org/drawingml/2006/main">
              <a:ext uri="{FF2B5EF4-FFF2-40B4-BE49-F238E27FC236}">
                <a16:creationId xmlns:a16="http://schemas.microsoft.com/office/drawing/2014/main" id="{2E4329FE-7E59-433B-B9A9-F9A64B3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752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写入阶段</a:t>
            </a:r>
          </a:p>
        </p:txBody>
      </p:sp>
      <p:sp>
        <p:nvSpPr>
          <p:cNvPr id="10" name="s10-a2">
            <a:extLst xmlns:a="http://schemas.openxmlformats.org/drawingml/2006/main">
              <a:ext uri="{FF2B5EF4-FFF2-40B4-BE49-F238E27FC236}">
                <a16:creationId xmlns:a16="http://schemas.microsoft.com/office/drawing/2014/main" id="{78CAD1C2-45E2-48CD-BF44-F8FF7D9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13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C70"/>
                </a:solidFill>
                <a:latin typeface="Menlo"/>
                <a:ea typeface="Menlo"/>
                <a:cs typeface="Menlo"/>
              </a:defRPr>
            </a:pPr>
            <a:r>
              <a:t>Open(...)
PutUniqueStructs /
PutRowStructs</a:t>
            </a:r>
          </a:p>
        </p:txBody>
      </p:sp>
      <p:sp>
        <p:nvSpPr>
          <p:cNvPr id="11" name="s10-b">
            <a:extLst xmlns:a="http://schemas.openxmlformats.org/drawingml/2006/main">
              <a:ext uri="{FF2B5EF4-FFF2-40B4-BE49-F238E27FC236}">
                <a16:creationId xmlns:a16="http://schemas.microsoft.com/office/drawing/2014/main" id="{FFA6A3C2-29E8-4A65-B9F3-854D37C5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1752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7A55"/>
                </a:solidFill>
                <a:latin typeface="PingFang SC"/>
                <a:ea typeface="PingFang SC"/>
                <a:cs typeface="PingFang SC"/>
              </a:defRPr>
            </a:pPr>
            <a:r>
              <a:t>value 先同步</a:t>
            </a:r>
          </a:p>
        </p:txBody>
      </p:sp>
      <p:sp>
        <p:nvSpPr>
          <p:cNvPr id="12" name="s10-b2">
            <a:extLst xmlns:a="http://schemas.openxmlformats.org/drawingml/2006/main">
              <a:ext uri="{FF2B5EF4-FFF2-40B4-BE49-F238E27FC236}">
                <a16:creationId xmlns:a16="http://schemas.microsoft.com/office/drawing/2014/main" id="{EB7ACDD4-38F8-440B-AE01-DD09ED7B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C70"/>
                </a:solidFill>
                <a:latin typeface="Menlo"/>
                <a:ea typeface="Menlo"/>
                <a:cs typeface="Menlo"/>
              </a:defRPr>
            </a:pPr>
            <a:r>
              <a:t>values.lumov
row_values-NNN.lumorv</a:t>
            </a:r>
          </a:p>
        </p:txBody>
      </p:sp>
      <p:sp>
        <p:nvSpPr>
          <p:cNvPr id="13" name="s10-c">
            <a:extLst xmlns:a="http://schemas.openxmlformats.org/drawingml/2006/main">
              <a:ext uri="{FF2B5EF4-FFF2-40B4-BE49-F238E27FC236}">
                <a16:creationId xmlns:a16="http://schemas.microsoft.com/office/drawing/2014/main" id="{AB1D6026-6811-4C85-B4DA-C70FF64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1752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index 后同步</a:t>
            </a:r>
          </a:p>
        </p:txBody>
      </p:sp>
      <p:sp>
        <p:nvSpPr>
          <p:cNvPr id="14" name="s10-c2">
            <a:extLst xmlns:a="http://schemas.openxmlformats.org/drawingml/2006/main">
              <a:ext uri="{FF2B5EF4-FFF2-40B4-BE49-F238E27FC236}">
                <a16:creationId xmlns:a16="http://schemas.microsoft.com/office/drawing/2014/main" id="{91B4A2FC-A287-4749-BCF8-68D218F0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217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C70"/>
                </a:solidFill>
                <a:latin typeface="Menlo"/>
                <a:ea typeface="Menlo"/>
                <a:cs typeface="Menlo"/>
              </a:defRPr>
            </a:pPr>
            <a:r>
              <a:t>index.lumoi
row_index.lumori</a:t>
            </a:r>
          </a:p>
        </p:txBody>
      </p:sp>
      <p:sp>
        <p:nvSpPr>
          <p:cNvPr id="15" name="s10-d">
            <a:extLst xmlns:a="http://schemas.openxmlformats.org/drawingml/2006/main">
              <a:ext uri="{FF2B5EF4-FFF2-40B4-BE49-F238E27FC236}">
                <a16:creationId xmlns:a16="http://schemas.microsoft.com/office/drawing/2014/main" id="{F85422D4-706B-4298-954F-00954F8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1752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只读阶段</a:t>
            </a:r>
          </a:p>
        </p:txBody>
      </p:sp>
      <p:sp>
        <p:nvSpPr>
          <p:cNvPr id="16" name="s10-d2">
            <a:extLst xmlns:a="http://schemas.openxmlformats.org/drawingml/2006/main">
              <a:ext uri="{FF2B5EF4-FFF2-40B4-BE49-F238E27FC236}">
                <a16:creationId xmlns:a16="http://schemas.microsoft.com/office/drawing/2014/main" id="{34E90183-D449-44B0-B3D7-D994E896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2266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C70"/>
                </a:solidFill>
                <a:latin typeface="Menlo"/>
                <a:ea typeface="Menlo"/>
                <a:cs typeface="Menlo"/>
              </a:defRPr>
            </a:pPr>
            <a:r>
              <a:t>OpenReadOnly(...)
parallel point reads</a:t>
            </a:r>
          </a:p>
        </p:txBody>
      </p:sp>
      <p:sp>
        <p:nvSpPr>
          <p:cNvPr id="17" name="s10-invariant">
            <a:extLst xmlns:a="http://schemas.openxmlformats.org/drawingml/2006/main">
              <a:ext uri="{FF2B5EF4-FFF2-40B4-BE49-F238E27FC236}">
                <a16:creationId xmlns:a16="http://schemas.microsoft.com/office/drawing/2014/main" id="{A95CC676-FFA5-4266-BAC9-A8D9D2B6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010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7"/>
          </a:solidFill>
          <a:ln xmlns:a="http://schemas.openxmlformats.org/drawingml/2006/main" w="9525">
            <a:solidFill>
              <a:srgbClr val="2D6EAF"/>
            </a:solidFill>
            <a:prstDash val="solid"/>
          </a:ln>
        </p:spPr>
      </p:sp>
      <p:sp>
        <p:nvSpPr>
          <p:cNvPr id="18" name="s10-invariant-t">
            <a:extLst xmlns:a="http://schemas.openxmlformats.org/drawingml/2006/main">
              <a:ext uri="{FF2B5EF4-FFF2-40B4-BE49-F238E27FC236}">
                <a16:creationId xmlns:a16="http://schemas.microsoft.com/office/drawing/2014/main" id="{2BA1F47F-44F9-4585-AEC8-11F0E532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6EAF"/>
                </a:solidFill>
                <a:latin typeface="PingFang SC"/>
                <a:ea typeface="PingFang SC"/>
                <a:cs typeface="PingFang SC"/>
              </a:defRPr>
            </a:pPr>
            <a:r>
              <a:t>操作约束</a:t>
            </a:r>
          </a:p>
        </p:txBody>
      </p:sp>
      <p:sp>
        <p:nvSpPr>
          <p:cNvPr id="19" name="s10-invariant-b">
            <a:extLst xmlns:a="http://schemas.openxmlformats.org/drawingml/2006/main">
              <a:ext uri="{FF2B5EF4-FFF2-40B4-BE49-F238E27FC236}">
                <a16:creationId xmlns:a16="http://schemas.microsoft.com/office/drawing/2014/main" id="{2E700677-3C7F-4627-91DD-07ADC90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57800"/>
            <a:ext cx="847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同一 DatabaseOptions 必须用于 reopen；若 index 缺失或无效，read-write Open 可以扫描 append-only values 重建索引。</a:t>
            </a:r>
          </a:p>
        </p:txBody>
      </p:sp>
      <p:cxnSp>
        <p:nvCxnSpPr>
          <p:cNvPr id="42" name="footer-rule-12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21" name="footer-name-12">
            <a:extLst xmlns:a="http://schemas.openxmlformats.org/drawingml/2006/main">
              <a:ext uri="{FF2B5EF4-FFF2-40B4-BE49-F238E27FC236}">
                <a16:creationId xmlns:a16="http://schemas.microsoft.com/office/drawing/2014/main" id="{2C76F173-CFB8-466E-BAED-D19D4EA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22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5EC6E7DD-6577-4D51-BDC5-281C7F38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267388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13">
            <a:extLst xmlns:a="http://schemas.openxmlformats.org/drawingml/2006/main">
              <a:ext uri="{FF2B5EF4-FFF2-40B4-BE49-F238E27FC236}">
                <a16:creationId xmlns:a16="http://schemas.microsoft.com/office/drawing/2014/main" id="{20E967DE-1678-4C82-98BE-D432E02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F8D15E19-037D-4F7B-9F01-4342345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用正确 API 缩短不可变数据写入路径</a:t>
            </a:r>
          </a:p>
        </p:txBody>
      </p:sp>
      <p:sp>
        <p:nvSpPr>
          <p:cNvPr id="3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662BB589-8554-4F82-ADF9-0FE6089D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平铺对象使用 PutUniqueStructs；完整 row 使用 PutRowStructs。StructEntry 与 RowStructEntry 是 non-owning view，key 与 payload 的 backing storage 必须至少存活到调用返回。</a:t>
            </a:r>
          </a:p>
        </p:txBody>
      </p:sp>
      <p:sp>
        <p:nvSpPr>
          <p:cNvPr id="4" name="s11-left-title">
            <a:extLst xmlns:a="http://schemas.openxmlformats.org/drawingml/2006/main">
              <a:ext uri="{FF2B5EF4-FFF2-40B4-BE49-F238E27FC236}">
                <a16:creationId xmlns:a16="http://schemas.microsoft.com/office/drawing/2014/main" id="{5668DDF6-1C61-4448-9F63-C053002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平铺对象列</a:t>
            </a:r>
          </a:p>
        </p:txBody>
      </p:sp>
      <p:sp>
        <p:nvSpPr>
          <p:cNvPr id="5" name="s11-object-bg">
            <a:extLst xmlns:a="http://schemas.openxmlformats.org/drawingml/2006/main">
              <a:ext uri="{FF2B5EF4-FFF2-40B4-BE49-F238E27FC236}">
                <a16:creationId xmlns:a16="http://schemas.microsoft.com/office/drawing/2014/main" id="{139872CC-69DB-422C-960A-C203F9A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2006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D"/>
          </a:solidFill>
          <a:ln xmlns:a="http://schemas.openxmlformats.org/drawingml/2006/main" w="0">
            <a:solidFill>
              <a:srgbClr val="20292D"/>
            </a:solidFill>
            <a:prstDash val="solid"/>
          </a:ln>
        </p:spPr>
      </p:sp>
      <p:sp>
        <p:nvSpPr>
          <p:cNvPr id="6" name="s11-object-accent">
            <a:extLst xmlns:a="http://schemas.openxmlformats.org/drawingml/2006/main">
              <a:ext uri="{FF2B5EF4-FFF2-40B4-BE49-F238E27FC236}">
                <a16:creationId xmlns:a16="http://schemas.microsoft.com/office/drawing/2014/main" id="{E78B43BB-D7A5-4BA2-B677-6919E573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7" name="s11-object-code">
            <a:extLst xmlns:a="http://schemas.openxmlformats.org/drawingml/2006/main">
              <a:ext uri="{FF2B5EF4-FFF2-40B4-BE49-F238E27FC236}">
                <a16:creationId xmlns:a16="http://schemas.microsoft.com/office/drawing/2014/main" id="{71BC6634-1093-4F4F-AD35-80E9BE1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43450" cy="300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0"/>
                </a:solidFill>
                <a:latin typeface="Menlo"/>
                <a:ea typeface="Menlo"/>
                <a:cs typeface="Menlo"/>
              </a:defRPr>
            </a:pPr>
            <a:r>
              <a:t>LumoDB::Database db;
LumoDB::DatabaseOptions options;
db.Open("/tmp/lumodb", options);
std::vector&lt;LumoDB::StructEntry&gt; entries = {
  {.key = "object-a", .flatBufferBytes = objectA},
  {.key = "object-b", .flatBufferBytes = objectB},
};
// Contract: every (column, key) is new.
db.PutUniqueStructs("StructA", entries);
db.Close();</a:t>
            </a:r>
          </a:p>
        </p:txBody>
      </p:sp>
      <p:sp>
        <p:nvSpPr>
          <p:cNvPr id="8" name="s11-left-note">
            <a:extLst xmlns:a="http://schemas.openxmlformats.org/drawingml/2006/main">
              <a:ext uri="{FF2B5EF4-FFF2-40B4-BE49-F238E27FC236}">
                <a16:creationId xmlns:a16="http://schemas.microsoft.com/office/drawing/2014/main" id="{70AB5524-C92C-4ACC-A405-989EF657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520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适用：key 一生只写一次，追求最短对象写入路径。</a:t>
            </a:r>
          </a:p>
        </p:txBody>
      </p:sp>
      <p:sp>
        <p:nvSpPr>
          <p:cNvPr id="9" name="s11-right-title">
            <a:extLst xmlns:a="http://schemas.openxmlformats.org/drawingml/2006/main">
              <a:ext uri="{FF2B5EF4-FFF2-40B4-BE49-F238E27FC236}">
                <a16:creationId xmlns:a16="http://schemas.microsoft.com/office/drawing/2014/main" id="{95029E8B-015D-4110-ADCA-15D8A5EA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6B2B"/>
                </a:solidFill>
                <a:latin typeface="PingFang SC"/>
                <a:ea typeface="PingFang SC"/>
                <a:cs typeface="PingFang SC"/>
              </a:defRPr>
            </a:pPr>
            <a:r>
              <a:t>row 分区对象列</a:t>
            </a:r>
          </a:p>
        </p:txBody>
      </p:sp>
      <p:sp>
        <p:nvSpPr>
          <p:cNvPr id="10" name="s11-row-bg">
            <a:extLst xmlns:a="http://schemas.openxmlformats.org/drawingml/2006/main">
              <a:ext uri="{FF2B5EF4-FFF2-40B4-BE49-F238E27FC236}">
                <a16:creationId xmlns:a16="http://schemas.microsoft.com/office/drawing/2014/main" id="{04233052-EEDC-4C42-AA3E-D7474B68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2197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D"/>
          </a:solidFill>
          <a:ln xmlns:a="http://schemas.openxmlformats.org/drawingml/2006/main" w="0">
            <a:solidFill>
              <a:srgbClr val="20292D"/>
            </a:solidFill>
            <a:prstDash val="solid"/>
          </a:ln>
        </p:spPr>
      </p:sp>
      <p:sp>
        <p:nvSpPr>
          <p:cNvPr id="11" name="s11-row-accent">
            <a:extLst xmlns:a="http://schemas.openxmlformats.org/drawingml/2006/main">
              <a:ext uri="{FF2B5EF4-FFF2-40B4-BE49-F238E27FC236}">
                <a16:creationId xmlns:a16="http://schemas.microsoft.com/office/drawing/2014/main" id="{0D805AF1-E0AF-4D7C-8E49-AF4FD30D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2B"/>
          </a:solidFill>
          <a:ln xmlns:a="http://schemas.openxmlformats.org/drawingml/2006/main" w="0">
            <a:solidFill>
              <a:srgbClr val="D66B2B"/>
            </a:solidFill>
            <a:prstDash val="solid"/>
          </a:ln>
        </p:spPr>
      </p:sp>
      <p:sp>
        <p:nvSpPr>
          <p:cNvPr id="12" name="s11-row-code">
            <a:extLst xmlns:a="http://schemas.openxmlformats.org/drawingml/2006/main">
              <a:ext uri="{FF2B5EF4-FFF2-40B4-BE49-F238E27FC236}">
                <a16:creationId xmlns:a16="http://schemas.microsoft.com/office/drawing/2014/main" id="{38188AF4-F4CF-4948-88C7-8B249EF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762500" cy="300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0"/>
                </a:solidFill>
                <a:latin typeface="Menlo"/>
                <a:ea typeface="Menlo"/>
                <a:cs typeface="Menlo"/>
              </a:defRPr>
            </a:pPr>
            <a:r>
              <a:t>std::vector&lt;LumoDB::RowStructEntry&gt; row = {
  {.key = "object-a", .flatBufferBytes = objectA},
  {.key = "object-b", .flatBufferBytes = objectB},
};
// Different rowId values may run on other threads.
db.PutRowStructs("StructA", 42, row);
db.Close();
db.OpenReadOnly("/tmp/lumodb", options);
std::vector&lt;std::byte&gt; value;
db.GetRowStruct("StructA", 42, "object-a", value);</a:t>
            </a:r>
          </a:p>
        </p:txBody>
      </p:sp>
      <p:sp>
        <p:nvSpPr>
          <p:cNvPr id="13" name="s11-right-note">
            <a:extLst xmlns:a="http://schemas.openxmlformats.org/drawingml/2006/main">
              <a:ext uri="{FF2B5EF4-FFF2-40B4-BE49-F238E27FC236}">
                <a16:creationId xmlns:a16="http://schemas.microsoft.com/office/drawing/2014/main" id="{CF976D1B-875F-47CF-87F8-24EAA26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5785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适用：完整 row 已准备完毕，可按不同 rowId 并行提交。</a:t>
            </a:r>
          </a:p>
        </p:txBody>
      </p:sp>
      <p:cxnSp>
        <p:nvCxnSpPr>
          <p:cNvPr id="30" name="footer-rule-13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15" name="footer-name-13">
            <a:extLst xmlns:a="http://schemas.openxmlformats.org/drawingml/2006/main">
              <a:ext uri="{FF2B5EF4-FFF2-40B4-BE49-F238E27FC236}">
                <a16:creationId xmlns:a16="http://schemas.microsoft.com/office/drawing/2014/main" id="{C39E02C3-5C44-43ED-947F-2066A3B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16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B691CCC0-BA45-4375-AE7F-3F9C6510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670012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-14">
            <a:extLst xmlns:a="http://schemas.openxmlformats.org/drawingml/2006/main">
              <a:ext uri="{FF2B5EF4-FFF2-40B4-BE49-F238E27FC236}">
                <a16:creationId xmlns:a16="http://schemas.microsoft.com/office/drawing/2014/main" id="{C4119A9D-D6CB-4DCE-BF35-DFC29706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2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9B618274-A913-47AA-9369-A96CC3F6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25"/>
                </a:solidFill>
                <a:latin typeface="PingFang SC"/>
                <a:ea typeface="PingFang SC"/>
                <a:cs typeface="PingFang SC"/>
              </a:defRPr>
            </a:pPr>
            <a:r>
              <a:t>诊断只观察当前 index 可见状态，核心路径保持短</a:t>
            </a:r>
          </a:p>
        </p:txBody>
      </p:sp>
      <p:sp>
        <p:nvSpPr>
          <p:cNvPr id="3" name="slide-subtitle-14">
            <a:extLst xmlns:a="http://schemas.openxmlformats.org/drawingml/2006/main">
              <a:ext uri="{FF2B5EF4-FFF2-40B4-BE49-F238E27FC236}">
                <a16:creationId xmlns:a16="http://schemas.microsoft.com/office/drawing/2014/main" id="{B7EE5AED-805C-4008-BE31-48633105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Dump 是装饰性的离线诊断能力：可按 column 输出，并在输出前把 FlatBuffer bytes 交给调用方反序列化。</a:t>
            </a:r>
          </a:p>
        </p:txBody>
      </p:sp>
      <p:sp>
        <p:nvSpPr>
          <p:cNvPr id="4" name="s12-code-bg">
            <a:extLst xmlns:a="http://schemas.openxmlformats.org/drawingml/2006/main">
              <a:ext uri="{FF2B5EF4-FFF2-40B4-BE49-F238E27FC236}">
                <a16:creationId xmlns:a16="http://schemas.microsoft.com/office/drawing/2014/main" id="{C87BCE95-6961-4F69-836A-BFC92B6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5816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D"/>
          </a:solidFill>
          <a:ln xmlns:a="http://schemas.openxmlformats.org/drawingml/2006/main" w="0">
            <a:solidFill>
              <a:srgbClr val="20292D"/>
            </a:solidFill>
            <a:prstDash val="solid"/>
          </a:ln>
        </p:spPr>
      </p:sp>
      <p:sp>
        <p:nvSpPr>
          <p:cNvPr id="5" name="s12-code-accent">
            <a:extLst xmlns:a="http://schemas.openxmlformats.org/drawingml/2006/main">
              <a:ext uri="{FF2B5EF4-FFF2-40B4-BE49-F238E27FC236}">
                <a16:creationId xmlns:a16="http://schemas.microsoft.com/office/drawing/2014/main" id="{549DE3BB-FC08-45E9-90BB-C6994EF8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B"/>
          </a:solidFill>
          <a:ln xmlns:a="http://schemas.openxmlformats.org/drawingml/2006/main" w="0">
            <a:solidFill>
              <a:srgbClr val="0C7C7B"/>
            </a:solidFill>
            <a:prstDash val="solid"/>
          </a:ln>
        </p:spPr>
      </p:sp>
      <p:sp>
        <p:nvSpPr>
          <p:cNvPr id="6" name="s12-code-code">
            <a:extLst xmlns:a="http://schemas.openxmlformats.org/drawingml/2006/main">
              <a:ext uri="{FF2B5EF4-FFF2-40B4-BE49-F238E27FC236}">
                <a16:creationId xmlns:a16="http://schemas.microsoft.com/office/drawing/2014/main" id="{B8DDA7BC-31B3-46DB-A54E-4B48CD4A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12445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0"/>
                </a:solidFill>
                <a:latin typeface="Menlo"/>
                <a:ea typeface="Menlo"/>
                <a:cs typeface="Menlo"/>
              </a:defRPr>
            </a:pPr>
            <a:r>
              <a:t>LumoDB::DumpDeserializer decode =
  [](const LumoDB::DumpValue&amp; v, std::string&amp; text) {
    text = DescribeMyFlatBuffer(v.flatBufferBytes);
    return LumoDB::Status::Ok();
  };
db.DumpColumn(std::cout, "StructA", decode);
std::vector&lt;LumoDB::ColumnStats&gt; stats;
db.GetColumnStats(stats);</a:t>
            </a:r>
          </a:p>
        </p:txBody>
      </p:sp>
      <p:sp>
        <p:nvSpPr>
          <p:cNvPr id="7" name="s12-diagnostic">
            <a:extLst xmlns:a="http://schemas.openxmlformats.org/drawingml/2006/main">
              <a:ext uri="{FF2B5EF4-FFF2-40B4-BE49-F238E27FC236}">
                <a16:creationId xmlns:a16="http://schemas.microsoft.com/office/drawing/2014/main" id="{B9396B50-39AA-4A61-A3AF-EBAEB1F5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9720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C"/>
            </a:solidFill>
            <a:prstDash val="solid"/>
          </a:ln>
        </p:spPr>
      </p:sp>
      <p:sp>
        <p:nvSpPr>
          <p:cNvPr id="8" name="s12-diagnostic-title">
            <a:extLst xmlns:a="http://schemas.openxmlformats.org/drawingml/2006/main">
              <a:ext uri="{FF2B5EF4-FFF2-40B4-BE49-F238E27FC236}">
                <a16:creationId xmlns:a16="http://schemas.microsoft.com/office/drawing/2014/main" id="{AA444749-41F8-469D-A6ED-4FCBEEBD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7C7B"/>
                </a:solidFill>
                <a:latin typeface="PingFang SC"/>
                <a:ea typeface="PingFang SC"/>
                <a:cs typeface="PingFang SC"/>
              </a:defRPr>
            </a:pPr>
            <a:r>
              <a:t>DumpColumn 输出什么</a:t>
            </a:r>
          </a:p>
        </p:txBody>
      </p:sp>
      <p:sp>
        <p:nvSpPr>
          <p:cNvPr id="9" name="s12-diagnostic-body">
            <a:extLst xmlns:a="http://schemas.openxmlformats.org/drawingml/2006/main">
              <a:ext uri="{FF2B5EF4-FFF2-40B4-BE49-F238E27FC236}">
                <a16:creationId xmlns:a16="http://schemas.microsoft.com/office/drawing/2014/main" id="{7882FEE3-C645-4DE1-BA39-8259379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41719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• 指定 column 的 object 与 row entries
• column、可选 rowId、key、hash、offset、sequence
• 原始 value hex，以及 callback 产生的 deserialized text
append-only 文件里已经被替换的旧 record
不属于当前 index-visible 状态，不会出现在 dump 中。</a:t>
            </a:r>
          </a:p>
        </p:txBody>
      </p:sp>
      <p:sp>
        <p:nvSpPr>
          <p:cNvPr id="10" name="s12-summary">
            <a:extLst xmlns:a="http://schemas.openxmlformats.org/drawingml/2006/main">
              <a:ext uri="{FF2B5EF4-FFF2-40B4-BE49-F238E27FC236}">
                <a16:creationId xmlns:a16="http://schemas.microsoft.com/office/drawing/2014/main" id="{C44C014D-7660-409A-ADAD-A3FCDD5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1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25"/>
          </a:solidFill>
          <a:ln xmlns:a="http://schemas.openxmlformats.org/drawingml/2006/main" w="0">
            <a:solidFill>
              <a:srgbClr val="172225"/>
            </a:solidFill>
            <a:prstDash val="solid"/>
          </a:ln>
        </p:spPr>
      </p:sp>
      <p:sp>
        <p:nvSpPr>
          <p:cNvPr id="11" name="s12-summary-text">
            <a:extLst xmlns:a="http://schemas.openxmlformats.org/drawingml/2006/main">
              <a:ext uri="{FF2B5EF4-FFF2-40B4-BE49-F238E27FC236}">
                <a16:creationId xmlns:a16="http://schemas.microsoft.com/office/drawing/2014/main" id="{3482E3D7-8F21-4DC9-B68B-2378A10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3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LumoDB 的关键取舍：把通用查询能力留在系统外，将已知地址的对象读写压缩为 append + index + direct point read。</a:t>
            </a:r>
          </a:p>
        </p:txBody>
      </p:sp>
      <p:cxnSp>
        <p:nvCxnSpPr>
          <p:cNvPr id="26" name="footer-rule-14"/>
          <p:cNvCxnSpPr/>
          <p:nvPr/>
        </p:nvCxn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DC"/>
            </a:solidFill>
            <a:prstDash val="solid"/>
          </a:ln>
        </p:spPr>
      </p:cxnSp>
      <p:sp>
        <p:nvSpPr>
          <p:cNvPr id="13" name="footer-name-14">
            <a:extLst xmlns:a="http://schemas.openxmlformats.org/drawingml/2006/main">
              <a:ext uri="{FF2B5EF4-FFF2-40B4-BE49-F238E27FC236}">
                <a16:creationId xmlns:a16="http://schemas.microsoft.com/office/drawing/2014/main" id="{499B3E10-2302-41EC-A329-C1112360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LumoDB · Design &amp; Storage</a:t>
            </a:r>
          </a:p>
        </p:txBody>
      </p:sp>
      <p:sp>
        <p:nvSpPr>
          <p:cNvPr id="14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9A82D3DB-63B7-4581-B42F-DF54EE7A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C7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225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2026-07-15T15:44:55.1310000Z</dcterms:created>
  <dcterms:modified xsi:type="dcterms:W3CDTF">2026-07-15T15:44:55.1310000Z</dcterms:modified>
</coreProperties>
</file>